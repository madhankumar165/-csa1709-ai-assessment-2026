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321" r:id="rId2"/>
    <p:sldId id="322" r:id="rId3"/>
    <p:sldId id="258" r:id="rId4"/>
    <p:sldId id="332" r:id="rId5"/>
    <p:sldId id="329" r:id="rId6"/>
    <p:sldId id="334" r:id="rId7"/>
    <p:sldId id="324" r:id="rId8"/>
    <p:sldId id="325" r:id="rId9"/>
    <p:sldId id="333" r:id="rId10"/>
    <p:sldId id="326" r:id="rId11"/>
    <p:sldId id="330" r:id="rId12"/>
    <p:sldId id="331" r:id="rId13"/>
    <p:sldId id="323" r:id="rId14"/>
    <p:sldId id="327" r:id="rId15"/>
    <p:sldId id="262"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E116E2-3093-4193-B05A-E7B1031ADAB7}" v="3" dt="2026-08-09T16:36:08.446"/>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05" autoAdjust="0"/>
    <p:restoredTop sz="94660"/>
  </p:normalViewPr>
  <p:slideViewPr>
    <p:cSldViewPr snapToGrid="0">
      <p:cViewPr varScale="1">
        <p:scale>
          <a:sx n="88" d="100"/>
          <a:sy n="88" d="100"/>
        </p:scale>
        <p:origin x="228" y="63"/>
      </p:cViewPr>
      <p:guideLst/>
    </p:cSldViewPr>
  </p:slideViewPr>
  <p:notesTextViewPr>
    <p:cViewPr>
      <p:scale>
        <a:sx n="50" d="100"/>
        <a:sy n="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thosh Kumar B" userId="ac3387fc802c1f0e" providerId="LiveId" clId="{1936DDFA-8A1B-4799-A554-DE5A20788CAD}"/>
    <pc:docChg chg="undo custSel modSld modMainMaster">
      <pc:chgData name="Santhosh Kumar B" userId="ac3387fc802c1f0e" providerId="LiveId" clId="{1936DDFA-8A1B-4799-A554-DE5A20788CAD}" dt="2026-08-09T16:54:55.062" v="162" actId="14100"/>
      <pc:docMkLst>
        <pc:docMk/>
      </pc:docMkLst>
      <pc:sldChg chg="setBg">
        <pc:chgData name="Santhosh Kumar B" userId="ac3387fc802c1f0e" providerId="LiveId" clId="{1936DDFA-8A1B-4799-A554-DE5A20788CAD}" dt="2026-08-03T04:39:14.635" v="70"/>
        <pc:sldMkLst>
          <pc:docMk/>
          <pc:sldMk cId="3650042423" sldId="262"/>
        </pc:sldMkLst>
      </pc:sldChg>
      <pc:sldChg chg="modSp mod setBg">
        <pc:chgData name="Santhosh Kumar B" userId="ac3387fc802c1f0e" providerId="LiveId" clId="{1936DDFA-8A1B-4799-A554-DE5A20788CAD}" dt="2026-08-03T04:39:14.635" v="70"/>
        <pc:sldMkLst>
          <pc:docMk/>
          <pc:sldMk cId="2952279709" sldId="321"/>
        </pc:sldMkLst>
        <pc:spChg chg="mod">
          <ac:chgData name="Santhosh Kumar B" userId="ac3387fc802c1f0e" providerId="LiveId" clId="{1936DDFA-8A1B-4799-A554-DE5A20788CAD}" dt="2026-07-22T05:46:22.208" v="65" actId="14100"/>
          <ac:spMkLst>
            <pc:docMk/>
            <pc:sldMk cId="2952279709" sldId="321"/>
            <ac:spMk id="2" creationId="{EDBB4AEF-3298-49F7-E8DF-29D46536A79D}"/>
          </ac:spMkLst>
        </pc:spChg>
      </pc:sldChg>
      <pc:sldChg chg="addSp modSp mod">
        <pc:chgData name="Santhosh Kumar B" userId="ac3387fc802c1f0e" providerId="LiveId" clId="{1936DDFA-8A1B-4799-A554-DE5A20788CAD}" dt="2026-08-09T16:54:55.062" v="162" actId="14100"/>
        <pc:sldMkLst>
          <pc:docMk/>
          <pc:sldMk cId="324642082" sldId="324"/>
        </pc:sldMkLst>
        <pc:spChg chg="mod">
          <ac:chgData name="Santhosh Kumar B" userId="ac3387fc802c1f0e" providerId="LiveId" clId="{1936DDFA-8A1B-4799-A554-DE5A20788CAD}" dt="2026-07-23T14:49:41.037" v="67" actId="1076"/>
          <ac:spMkLst>
            <pc:docMk/>
            <pc:sldMk cId="324642082" sldId="324"/>
            <ac:spMk id="5" creationId="{473835A2-FE59-C1E4-BED4-8ACB7893B65B}"/>
          </ac:spMkLst>
        </pc:spChg>
        <pc:picChg chg="add mod">
          <ac:chgData name="Santhosh Kumar B" userId="ac3387fc802c1f0e" providerId="LiveId" clId="{1936DDFA-8A1B-4799-A554-DE5A20788CAD}" dt="2026-08-09T16:54:55.062" v="162" actId="14100"/>
          <ac:picMkLst>
            <pc:docMk/>
            <pc:sldMk cId="324642082" sldId="324"/>
            <ac:picMk id="8" creationId="{410FACCE-DB01-2E55-FF95-EC328216AE70}"/>
          </ac:picMkLst>
        </pc:picChg>
      </pc:sldChg>
      <pc:sldChg chg="addSp modSp mod">
        <pc:chgData name="Santhosh Kumar B" userId="ac3387fc802c1f0e" providerId="LiveId" clId="{1936DDFA-8A1B-4799-A554-DE5A20788CAD}" dt="2026-08-09T16:54:09.567" v="155" actId="14100"/>
        <pc:sldMkLst>
          <pc:docMk/>
          <pc:sldMk cId="1597882159" sldId="325"/>
        </pc:sldMkLst>
        <pc:picChg chg="add mod">
          <ac:chgData name="Santhosh Kumar B" userId="ac3387fc802c1f0e" providerId="LiveId" clId="{1936DDFA-8A1B-4799-A554-DE5A20788CAD}" dt="2026-08-09T16:53:15.926" v="143" actId="1076"/>
          <ac:picMkLst>
            <pc:docMk/>
            <pc:sldMk cId="1597882159" sldId="325"/>
            <ac:picMk id="6" creationId="{0DDF220F-01FD-A11B-2723-7FD1A01D5CE0}"/>
          </ac:picMkLst>
        </pc:picChg>
        <pc:picChg chg="add mod">
          <ac:chgData name="Santhosh Kumar B" userId="ac3387fc802c1f0e" providerId="LiveId" clId="{1936DDFA-8A1B-4799-A554-DE5A20788CAD}" dt="2026-08-09T16:54:09.567" v="155" actId="14100"/>
          <ac:picMkLst>
            <pc:docMk/>
            <pc:sldMk cId="1597882159" sldId="325"/>
            <ac:picMk id="9" creationId="{E6B2162A-6AB4-6B45-A144-DEEE888088FA}"/>
          </ac:picMkLst>
        </pc:picChg>
      </pc:sldChg>
      <pc:sldChg chg="addSp delSp modSp mod">
        <pc:chgData name="Santhosh Kumar B" userId="ac3387fc802c1f0e" providerId="LiveId" clId="{1936DDFA-8A1B-4799-A554-DE5A20788CAD}" dt="2026-08-09T16:27:52.105" v="82" actId="1076"/>
        <pc:sldMkLst>
          <pc:docMk/>
          <pc:sldMk cId="1029823514" sldId="326"/>
        </pc:sldMkLst>
        <pc:picChg chg="add mod">
          <ac:chgData name="Santhosh Kumar B" userId="ac3387fc802c1f0e" providerId="LiveId" clId="{1936DDFA-8A1B-4799-A554-DE5A20788CAD}" dt="2026-08-09T16:27:52.105" v="82" actId="1076"/>
          <ac:picMkLst>
            <pc:docMk/>
            <pc:sldMk cId="1029823514" sldId="326"/>
            <ac:picMk id="6" creationId="{ED3B4C96-3857-FB87-FA2C-FD27F3F10E9E}"/>
          </ac:picMkLst>
        </pc:picChg>
        <pc:picChg chg="del">
          <ac:chgData name="Santhosh Kumar B" userId="ac3387fc802c1f0e" providerId="LiveId" clId="{1936DDFA-8A1B-4799-A554-DE5A20788CAD}" dt="2026-08-09T16:27:47.553" v="81" actId="478"/>
          <ac:picMkLst>
            <pc:docMk/>
            <pc:sldMk cId="1029823514" sldId="326"/>
            <ac:picMk id="13" creationId="{1218BF67-DDA6-039C-E224-4AD5CAAD0088}"/>
          </ac:picMkLst>
        </pc:picChg>
      </pc:sldChg>
      <pc:sldChg chg="addSp delSp modSp mod">
        <pc:chgData name="Santhosh Kumar B" userId="ac3387fc802c1f0e" providerId="LiveId" clId="{1936DDFA-8A1B-4799-A554-DE5A20788CAD}" dt="2026-08-09T16:36:55.903" v="125" actId="1076"/>
        <pc:sldMkLst>
          <pc:docMk/>
          <pc:sldMk cId="3510740889" sldId="329"/>
        </pc:sldMkLst>
        <pc:spChg chg="mod">
          <ac:chgData name="Santhosh Kumar B" userId="ac3387fc802c1f0e" providerId="LiveId" clId="{1936DDFA-8A1B-4799-A554-DE5A20788CAD}" dt="2026-08-09T16:35:46.414" v="101" actId="1076"/>
          <ac:spMkLst>
            <pc:docMk/>
            <pc:sldMk cId="3510740889" sldId="329"/>
            <ac:spMk id="13" creationId="{14B54BF8-86AB-A730-8667-D9712A9C5DA2}"/>
          </ac:spMkLst>
        </pc:spChg>
        <pc:grpChg chg="mod">
          <ac:chgData name="Santhosh Kumar B" userId="ac3387fc802c1f0e" providerId="LiveId" clId="{1936DDFA-8A1B-4799-A554-DE5A20788CAD}" dt="2026-08-09T16:36:08.446" v="112" actId="14100"/>
          <ac:grpSpMkLst>
            <pc:docMk/>
            <pc:sldMk cId="3510740889" sldId="329"/>
            <ac:grpSpMk id="4" creationId="{21C08811-4075-6A85-D1E0-D426B50575ED}"/>
          </ac:grpSpMkLst>
        </pc:grpChg>
        <pc:picChg chg="mod">
          <ac:chgData name="Santhosh Kumar B" userId="ac3387fc802c1f0e" providerId="LiveId" clId="{1936DDFA-8A1B-4799-A554-DE5A20788CAD}" dt="2026-08-09T16:36:48.600" v="123" actId="1076"/>
          <ac:picMkLst>
            <pc:docMk/>
            <pc:sldMk cId="3510740889" sldId="329"/>
            <ac:picMk id="3" creationId="{B759299C-94FB-7BBE-F69B-431AFF47D0A8}"/>
          </ac:picMkLst>
        </pc:picChg>
        <pc:picChg chg="mod">
          <ac:chgData name="Santhosh Kumar B" userId="ac3387fc802c1f0e" providerId="LiveId" clId="{1936DDFA-8A1B-4799-A554-DE5A20788CAD}" dt="2026-08-09T16:36:08.446" v="112" actId="14100"/>
          <ac:picMkLst>
            <pc:docMk/>
            <pc:sldMk cId="3510740889" sldId="329"/>
            <ac:picMk id="5" creationId="{A4942435-F093-A919-D181-759FA778CC05}"/>
          </ac:picMkLst>
        </pc:picChg>
        <pc:picChg chg="mod">
          <ac:chgData name="Santhosh Kumar B" userId="ac3387fc802c1f0e" providerId="LiveId" clId="{1936DDFA-8A1B-4799-A554-DE5A20788CAD}" dt="2026-08-09T16:36:08.446" v="112" actId="14100"/>
          <ac:picMkLst>
            <pc:docMk/>
            <pc:sldMk cId="3510740889" sldId="329"/>
            <ac:picMk id="6" creationId="{B60C07B8-70EF-AC5C-129E-11A169BBF0F7}"/>
          </ac:picMkLst>
        </pc:picChg>
        <pc:picChg chg="add del mod">
          <ac:chgData name="Santhosh Kumar B" userId="ac3387fc802c1f0e" providerId="LiveId" clId="{1936DDFA-8A1B-4799-A554-DE5A20788CAD}" dt="2026-08-09T16:35:47.292" v="102" actId="22"/>
          <ac:picMkLst>
            <pc:docMk/>
            <pc:sldMk cId="3510740889" sldId="329"/>
            <ac:picMk id="14" creationId="{42778541-544D-FA27-A04C-225BB43C00EE}"/>
          </ac:picMkLst>
        </pc:picChg>
        <pc:picChg chg="add mod modCrop">
          <ac:chgData name="Santhosh Kumar B" userId="ac3387fc802c1f0e" providerId="LiveId" clId="{1936DDFA-8A1B-4799-A554-DE5A20788CAD}" dt="2026-08-09T16:36:55.903" v="125" actId="1076"/>
          <ac:picMkLst>
            <pc:docMk/>
            <pc:sldMk cId="3510740889" sldId="329"/>
            <ac:picMk id="16" creationId="{F52333D3-7413-7A44-04A8-A18C31D0AF48}"/>
          </ac:picMkLst>
        </pc:picChg>
      </pc:sldChg>
      <pc:sldChg chg="addSp delSp modSp mod">
        <pc:chgData name="Santhosh Kumar B" userId="ac3387fc802c1f0e" providerId="LiveId" clId="{1936DDFA-8A1B-4799-A554-DE5A20788CAD}" dt="2026-08-09T16:32:45.650" v="84" actId="15"/>
        <pc:sldMkLst>
          <pc:docMk/>
          <pc:sldMk cId="1213665409" sldId="330"/>
        </pc:sldMkLst>
        <pc:spChg chg="mod">
          <ac:chgData name="Santhosh Kumar B" userId="ac3387fc802c1f0e" providerId="LiveId" clId="{1936DDFA-8A1B-4799-A554-DE5A20788CAD}" dt="2026-08-09T16:32:45.650" v="84" actId="15"/>
          <ac:spMkLst>
            <pc:docMk/>
            <pc:sldMk cId="1213665409" sldId="330"/>
            <ac:spMk id="8" creationId="{44EC3AB1-FC90-663A-E448-9D9F82B6F11B}"/>
          </ac:spMkLst>
        </pc:spChg>
        <pc:picChg chg="mod">
          <ac:chgData name="Santhosh Kumar B" userId="ac3387fc802c1f0e" providerId="LiveId" clId="{1936DDFA-8A1B-4799-A554-DE5A20788CAD}" dt="2026-07-22T05:45:42.606" v="58" actId="1076"/>
          <ac:picMkLst>
            <pc:docMk/>
            <pc:sldMk cId="1213665409" sldId="330"/>
            <ac:picMk id="7" creationId="{4B766256-4708-D270-72BF-92B6725914B0}"/>
          </ac:picMkLst>
        </pc:picChg>
        <pc:picChg chg="add mod">
          <ac:chgData name="Santhosh Kumar B" userId="ac3387fc802c1f0e" providerId="LiveId" clId="{1936DDFA-8A1B-4799-A554-DE5A20788CAD}" dt="2026-07-22T05:45:59.923" v="63" actId="1076"/>
          <ac:picMkLst>
            <pc:docMk/>
            <pc:sldMk cId="1213665409" sldId="330"/>
            <ac:picMk id="11" creationId="{C756BC1C-9689-F78F-F7FE-938BDBA79059}"/>
          </ac:picMkLst>
        </pc:picChg>
      </pc:sldChg>
      <pc:sldChg chg="addSp modSp mod">
        <pc:chgData name="Santhosh Kumar B" userId="ac3387fc802c1f0e" providerId="LiveId" clId="{1936DDFA-8A1B-4799-A554-DE5A20788CAD}" dt="2026-08-09T16:48:08.123" v="133" actId="1076"/>
        <pc:sldMkLst>
          <pc:docMk/>
          <pc:sldMk cId="4086994859" sldId="333"/>
        </pc:sldMkLst>
        <pc:spChg chg="mod">
          <ac:chgData name="Santhosh Kumar B" userId="ac3387fc802c1f0e" providerId="LiveId" clId="{1936DDFA-8A1B-4799-A554-DE5A20788CAD}" dt="2026-08-09T16:35:26.153" v="97" actId="1076"/>
          <ac:spMkLst>
            <pc:docMk/>
            <pc:sldMk cId="4086994859" sldId="333"/>
            <ac:spMk id="7" creationId="{98F72D9B-7060-D400-A806-C24EDFB8EB06}"/>
          </ac:spMkLst>
        </pc:spChg>
        <pc:spChg chg="mod">
          <ac:chgData name="Santhosh Kumar B" userId="ac3387fc802c1f0e" providerId="LiveId" clId="{1936DDFA-8A1B-4799-A554-DE5A20788CAD}" dt="2026-08-09T16:35:30.446" v="98" actId="14100"/>
          <ac:spMkLst>
            <pc:docMk/>
            <pc:sldMk cId="4086994859" sldId="333"/>
            <ac:spMk id="11" creationId="{FDE0D178-20EE-B258-B974-50F1B0EE442C}"/>
          </ac:spMkLst>
        </pc:spChg>
        <pc:grpChg chg="add mod">
          <ac:chgData name="Santhosh Kumar B" userId="ac3387fc802c1f0e" providerId="LiveId" clId="{1936DDFA-8A1B-4799-A554-DE5A20788CAD}" dt="2026-08-09T16:34:58.638" v="85"/>
          <ac:grpSpMkLst>
            <pc:docMk/>
            <pc:sldMk cId="4086994859" sldId="333"/>
            <ac:grpSpMk id="2" creationId="{823A0C98-044E-9F8A-D3B2-09D4C1CEF4A3}"/>
          </ac:grpSpMkLst>
        </pc:grpChg>
        <pc:picChg chg="mod">
          <ac:chgData name="Santhosh Kumar B" userId="ac3387fc802c1f0e" providerId="LiveId" clId="{1936DDFA-8A1B-4799-A554-DE5A20788CAD}" dt="2026-08-09T16:34:58.638" v="85"/>
          <ac:picMkLst>
            <pc:docMk/>
            <pc:sldMk cId="4086994859" sldId="333"/>
            <ac:picMk id="3" creationId="{BDAF8CC9-3BBC-5215-40CE-33A93489FF2D}"/>
          </ac:picMkLst>
        </pc:picChg>
        <pc:picChg chg="mod">
          <ac:chgData name="Santhosh Kumar B" userId="ac3387fc802c1f0e" providerId="LiveId" clId="{1936DDFA-8A1B-4799-A554-DE5A20788CAD}" dt="2026-08-09T16:34:58.638" v="85"/>
          <ac:picMkLst>
            <pc:docMk/>
            <pc:sldMk cId="4086994859" sldId="333"/>
            <ac:picMk id="4" creationId="{C0752E06-8B1B-09B3-17B9-19050C1AA24B}"/>
          </ac:picMkLst>
        </pc:picChg>
        <pc:picChg chg="add mod">
          <ac:chgData name="Santhosh Kumar B" userId="ac3387fc802c1f0e" providerId="LiveId" clId="{1936DDFA-8A1B-4799-A554-DE5A20788CAD}" dt="2026-08-09T16:48:08.123" v="133" actId="1076"/>
          <ac:picMkLst>
            <pc:docMk/>
            <pc:sldMk cId="4086994859" sldId="333"/>
            <ac:picMk id="8" creationId="{51A25EA5-9257-2C6B-6015-6F074B5D3694}"/>
          </ac:picMkLst>
        </pc:picChg>
      </pc:sldChg>
      <pc:sldMasterChg chg="setBg modSldLayout">
        <pc:chgData name="Santhosh Kumar B" userId="ac3387fc802c1f0e" providerId="LiveId" clId="{1936DDFA-8A1B-4799-A554-DE5A20788CAD}" dt="2026-08-03T04:39:14.635" v="70"/>
        <pc:sldMasterMkLst>
          <pc:docMk/>
          <pc:sldMasterMk cId="1592101827" sldId="2147483648"/>
        </pc:sldMasterMkLst>
        <pc:sldLayoutChg chg="setBg">
          <pc:chgData name="Santhosh Kumar B" userId="ac3387fc802c1f0e" providerId="LiveId" clId="{1936DDFA-8A1B-4799-A554-DE5A20788CAD}" dt="2026-08-03T04:39:14.635" v="70"/>
          <pc:sldLayoutMkLst>
            <pc:docMk/>
            <pc:sldMasterMk cId="1592101827" sldId="2147483648"/>
            <pc:sldLayoutMk cId="2197176443" sldId="2147483649"/>
          </pc:sldLayoutMkLst>
        </pc:sldLayoutChg>
        <pc:sldLayoutChg chg="setBg">
          <pc:chgData name="Santhosh Kumar B" userId="ac3387fc802c1f0e" providerId="LiveId" clId="{1936DDFA-8A1B-4799-A554-DE5A20788CAD}" dt="2026-08-03T04:39:14.635" v="70"/>
          <pc:sldLayoutMkLst>
            <pc:docMk/>
            <pc:sldMasterMk cId="1592101827" sldId="2147483648"/>
            <pc:sldLayoutMk cId="1871335940" sldId="2147483650"/>
          </pc:sldLayoutMkLst>
        </pc:sldLayoutChg>
        <pc:sldLayoutChg chg="setBg">
          <pc:chgData name="Santhosh Kumar B" userId="ac3387fc802c1f0e" providerId="LiveId" clId="{1936DDFA-8A1B-4799-A554-DE5A20788CAD}" dt="2026-08-03T04:39:14.635" v="70"/>
          <pc:sldLayoutMkLst>
            <pc:docMk/>
            <pc:sldMasterMk cId="1592101827" sldId="2147483648"/>
            <pc:sldLayoutMk cId="1753906535" sldId="2147483651"/>
          </pc:sldLayoutMkLst>
        </pc:sldLayoutChg>
        <pc:sldLayoutChg chg="setBg">
          <pc:chgData name="Santhosh Kumar B" userId="ac3387fc802c1f0e" providerId="LiveId" clId="{1936DDFA-8A1B-4799-A554-DE5A20788CAD}" dt="2026-08-03T04:39:14.635" v="70"/>
          <pc:sldLayoutMkLst>
            <pc:docMk/>
            <pc:sldMasterMk cId="1592101827" sldId="2147483648"/>
            <pc:sldLayoutMk cId="3435976752" sldId="2147483652"/>
          </pc:sldLayoutMkLst>
        </pc:sldLayoutChg>
        <pc:sldLayoutChg chg="setBg">
          <pc:chgData name="Santhosh Kumar B" userId="ac3387fc802c1f0e" providerId="LiveId" clId="{1936DDFA-8A1B-4799-A554-DE5A20788CAD}" dt="2026-08-03T04:39:14.635" v="70"/>
          <pc:sldLayoutMkLst>
            <pc:docMk/>
            <pc:sldMasterMk cId="1592101827" sldId="2147483648"/>
            <pc:sldLayoutMk cId="777965612" sldId="2147483653"/>
          </pc:sldLayoutMkLst>
        </pc:sldLayoutChg>
        <pc:sldLayoutChg chg="setBg">
          <pc:chgData name="Santhosh Kumar B" userId="ac3387fc802c1f0e" providerId="LiveId" clId="{1936DDFA-8A1B-4799-A554-DE5A20788CAD}" dt="2026-08-03T04:39:14.635" v="70"/>
          <pc:sldLayoutMkLst>
            <pc:docMk/>
            <pc:sldMasterMk cId="1592101827" sldId="2147483648"/>
            <pc:sldLayoutMk cId="4183498241" sldId="2147483654"/>
          </pc:sldLayoutMkLst>
        </pc:sldLayoutChg>
        <pc:sldLayoutChg chg="setBg">
          <pc:chgData name="Santhosh Kumar B" userId="ac3387fc802c1f0e" providerId="LiveId" clId="{1936DDFA-8A1B-4799-A554-DE5A20788CAD}" dt="2026-08-03T04:39:14.635" v="70"/>
          <pc:sldLayoutMkLst>
            <pc:docMk/>
            <pc:sldMasterMk cId="1592101827" sldId="2147483648"/>
            <pc:sldLayoutMk cId="821965860" sldId="2147483655"/>
          </pc:sldLayoutMkLst>
        </pc:sldLayoutChg>
        <pc:sldLayoutChg chg="setBg">
          <pc:chgData name="Santhosh Kumar B" userId="ac3387fc802c1f0e" providerId="LiveId" clId="{1936DDFA-8A1B-4799-A554-DE5A20788CAD}" dt="2026-08-03T04:39:14.635" v="70"/>
          <pc:sldLayoutMkLst>
            <pc:docMk/>
            <pc:sldMasterMk cId="1592101827" sldId="2147483648"/>
            <pc:sldLayoutMk cId="269393664" sldId="2147483656"/>
          </pc:sldLayoutMkLst>
        </pc:sldLayoutChg>
        <pc:sldLayoutChg chg="setBg">
          <pc:chgData name="Santhosh Kumar B" userId="ac3387fc802c1f0e" providerId="LiveId" clId="{1936DDFA-8A1B-4799-A554-DE5A20788CAD}" dt="2026-08-03T04:39:14.635" v="70"/>
          <pc:sldLayoutMkLst>
            <pc:docMk/>
            <pc:sldMasterMk cId="1592101827" sldId="2147483648"/>
            <pc:sldLayoutMk cId="641885797" sldId="2147483657"/>
          </pc:sldLayoutMkLst>
        </pc:sldLayoutChg>
        <pc:sldLayoutChg chg="setBg">
          <pc:chgData name="Santhosh Kumar B" userId="ac3387fc802c1f0e" providerId="LiveId" clId="{1936DDFA-8A1B-4799-A554-DE5A20788CAD}" dt="2026-08-03T04:39:14.635" v="70"/>
          <pc:sldLayoutMkLst>
            <pc:docMk/>
            <pc:sldMasterMk cId="1592101827" sldId="2147483648"/>
            <pc:sldLayoutMk cId="1544886377" sldId="2147483658"/>
          </pc:sldLayoutMkLst>
        </pc:sldLayoutChg>
        <pc:sldLayoutChg chg="setBg">
          <pc:chgData name="Santhosh Kumar B" userId="ac3387fc802c1f0e" providerId="LiveId" clId="{1936DDFA-8A1B-4799-A554-DE5A20788CAD}" dt="2026-08-03T04:39:14.635" v="70"/>
          <pc:sldLayoutMkLst>
            <pc:docMk/>
            <pc:sldMasterMk cId="1592101827" sldId="2147483648"/>
            <pc:sldLayoutMk cId="1515700851" sldId="2147483659"/>
          </pc:sldLayoutMkLst>
        </pc:sldLayoutChg>
        <pc:sldLayoutChg chg="setBg">
          <pc:chgData name="Santhosh Kumar B" userId="ac3387fc802c1f0e" providerId="LiveId" clId="{1936DDFA-8A1B-4799-A554-DE5A20788CAD}" dt="2026-08-03T04:39:14.635" v="70"/>
          <pc:sldLayoutMkLst>
            <pc:docMk/>
            <pc:sldMasterMk cId="1592101827" sldId="2147483648"/>
            <pc:sldLayoutMk cId="306589897"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4A8164-310E-4ECC-A797-0CCCE5F3FFC8}" type="datetimeFigureOut">
              <a:rPr lang="en-IN" smtClean="0"/>
              <a:t>09-08-2026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845F41-8E44-40DE-95CA-5C1A532BD22F}" type="slidenum">
              <a:rPr lang="en-IN" smtClean="0"/>
              <a:t>‹#›</a:t>
            </a:fld>
            <a:endParaRPr lang="en-IN"/>
          </a:p>
        </p:txBody>
      </p:sp>
    </p:spTree>
    <p:extLst>
      <p:ext uri="{BB962C8B-B14F-4D97-AF65-F5344CB8AC3E}">
        <p14:creationId xmlns:p14="http://schemas.microsoft.com/office/powerpoint/2010/main" val="2530663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C6C6E-4B7F-7839-65D4-2F82C18CE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5EAE8-4476-5AFA-B70C-DE3AFB322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DA5676-10F3-ABEE-E9A9-E3EEBFBF91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5C66A2-A4AB-14BF-2687-4F7A3D7F1895}"/>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591579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B845F41-8E44-40DE-95CA-5C1A532BD22F}" type="slidenum">
              <a:rPr lang="en-IN" smtClean="0"/>
              <a:t>7</a:t>
            </a:fld>
            <a:endParaRPr lang="en-IN"/>
          </a:p>
        </p:txBody>
      </p:sp>
    </p:spTree>
    <p:extLst>
      <p:ext uri="{BB962C8B-B14F-4D97-AF65-F5344CB8AC3E}">
        <p14:creationId xmlns:p14="http://schemas.microsoft.com/office/powerpoint/2010/main" val="3010569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3BDDF-045C-E049-9FE2-5603F8D07C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98E8D4-4B50-C168-D870-112CE67F46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E411C04-2345-6BAA-A8CD-46CF7EC7228E}"/>
              </a:ext>
            </a:extLst>
          </p:cNvPr>
          <p:cNvSpPr>
            <a:spLocks noGrp="1"/>
          </p:cNvSpPr>
          <p:nvPr>
            <p:ph type="dt" sz="half" idx="10"/>
          </p:nvPr>
        </p:nvSpPr>
        <p:spPr/>
        <p:txBody>
          <a:bodyPr/>
          <a:lstStyle/>
          <a:p>
            <a:fld id="{F3820283-E915-46D2-A5B5-3020F7B956E2}" type="datetimeFigureOut">
              <a:rPr lang="en-IN" smtClean="0"/>
              <a:t>09-08-2026</a:t>
            </a:fld>
            <a:endParaRPr lang="en-IN"/>
          </a:p>
        </p:txBody>
      </p:sp>
      <p:sp>
        <p:nvSpPr>
          <p:cNvPr id="5" name="Footer Placeholder 4">
            <a:extLst>
              <a:ext uri="{FF2B5EF4-FFF2-40B4-BE49-F238E27FC236}">
                <a16:creationId xmlns:a16="http://schemas.microsoft.com/office/drawing/2014/main" id="{0A1644A7-DB70-0E2C-4B6A-81E7097944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D37192-A4FB-B3E5-4F80-7A3A2909389A}"/>
              </a:ext>
            </a:extLst>
          </p:cNvPr>
          <p:cNvSpPr>
            <a:spLocks noGrp="1"/>
          </p:cNvSpPr>
          <p:nvPr>
            <p:ph type="sldNum" sz="quarter" idx="12"/>
          </p:nvPr>
        </p:nvSpPr>
        <p:spPr/>
        <p:txBody>
          <a:bodyPr/>
          <a:lstStyle/>
          <a:p>
            <a:fld id="{578CE364-DA2B-4D79-93AD-F737E1B81049}" type="slidenum">
              <a:rPr lang="en-IN" smtClean="0"/>
              <a:t>‹#›</a:t>
            </a:fld>
            <a:endParaRPr lang="en-IN"/>
          </a:p>
        </p:txBody>
      </p:sp>
    </p:spTree>
    <p:extLst>
      <p:ext uri="{BB962C8B-B14F-4D97-AF65-F5344CB8AC3E}">
        <p14:creationId xmlns:p14="http://schemas.microsoft.com/office/powerpoint/2010/main" val="2197176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86D2B-09FC-8712-CA1B-C446CAE502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502214-BF60-6635-EEE3-419089CE38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98517C-16CD-29A8-67A2-524241F46881}"/>
              </a:ext>
            </a:extLst>
          </p:cNvPr>
          <p:cNvSpPr>
            <a:spLocks noGrp="1"/>
          </p:cNvSpPr>
          <p:nvPr>
            <p:ph type="dt" sz="half" idx="10"/>
          </p:nvPr>
        </p:nvSpPr>
        <p:spPr/>
        <p:txBody>
          <a:bodyPr/>
          <a:lstStyle/>
          <a:p>
            <a:fld id="{F3820283-E915-46D2-A5B5-3020F7B956E2}" type="datetimeFigureOut">
              <a:rPr lang="en-IN" smtClean="0"/>
              <a:t>09-08-2026</a:t>
            </a:fld>
            <a:endParaRPr lang="en-IN"/>
          </a:p>
        </p:txBody>
      </p:sp>
      <p:sp>
        <p:nvSpPr>
          <p:cNvPr id="5" name="Footer Placeholder 4">
            <a:extLst>
              <a:ext uri="{FF2B5EF4-FFF2-40B4-BE49-F238E27FC236}">
                <a16:creationId xmlns:a16="http://schemas.microsoft.com/office/drawing/2014/main" id="{CB4DEE34-D58C-9044-03BC-65F4B89B68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39A05E-EF9C-A0F4-5CA3-817557FD72DE}"/>
              </a:ext>
            </a:extLst>
          </p:cNvPr>
          <p:cNvSpPr>
            <a:spLocks noGrp="1"/>
          </p:cNvSpPr>
          <p:nvPr>
            <p:ph type="sldNum" sz="quarter" idx="12"/>
          </p:nvPr>
        </p:nvSpPr>
        <p:spPr/>
        <p:txBody>
          <a:bodyPr/>
          <a:lstStyle/>
          <a:p>
            <a:fld id="{578CE364-DA2B-4D79-93AD-F737E1B81049}" type="slidenum">
              <a:rPr lang="en-IN" smtClean="0"/>
              <a:t>‹#›</a:t>
            </a:fld>
            <a:endParaRPr lang="en-IN"/>
          </a:p>
        </p:txBody>
      </p:sp>
    </p:spTree>
    <p:extLst>
      <p:ext uri="{BB962C8B-B14F-4D97-AF65-F5344CB8AC3E}">
        <p14:creationId xmlns:p14="http://schemas.microsoft.com/office/powerpoint/2010/main" val="1871335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A0F43-4F88-0540-DFD6-1D49C3209F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8348AB2-96E9-F275-806C-5AA42A3557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D27F4F-BE91-DE4F-FCEE-302E0A148B0C}"/>
              </a:ext>
            </a:extLst>
          </p:cNvPr>
          <p:cNvSpPr>
            <a:spLocks noGrp="1"/>
          </p:cNvSpPr>
          <p:nvPr>
            <p:ph type="dt" sz="half" idx="10"/>
          </p:nvPr>
        </p:nvSpPr>
        <p:spPr/>
        <p:txBody>
          <a:bodyPr/>
          <a:lstStyle/>
          <a:p>
            <a:fld id="{F3820283-E915-46D2-A5B5-3020F7B956E2}" type="datetimeFigureOut">
              <a:rPr lang="en-IN" smtClean="0"/>
              <a:t>09-08-2026</a:t>
            </a:fld>
            <a:endParaRPr lang="en-IN"/>
          </a:p>
        </p:txBody>
      </p:sp>
      <p:sp>
        <p:nvSpPr>
          <p:cNvPr id="5" name="Footer Placeholder 4">
            <a:extLst>
              <a:ext uri="{FF2B5EF4-FFF2-40B4-BE49-F238E27FC236}">
                <a16:creationId xmlns:a16="http://schemas.microsoft.com/office/drawing/2014/main" id="{2AD9ACAB-6996-10C8-4C50-A4E72C68BF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EE5652-08EB-4FDB-A6C0-E5796309717B}"/>
              </a:ext>
            </a:extLst>
          </p:cNvPr>
          <p:cNvSpPr>
            <a:spLocks noGrp="1"/>
          </p:cNvSpPr>
          <p:nvPr>
            <p:ph type="sldNum" sz="quarter" idx="12"/>
          </p:nvPr>
        </p:nvSpPr>
        <p:spPr/>
        <p:txBody>
          <a:bodyPr/>
          <a:lstStyle/>
          <a:p>
            <a:fld id="{578CE364-DA2B-4D79-93AD-F737E1B81049}" type="slidenum">
              <a:rPr lang="en-IN" smtClean="0"/>
              <a:t>‹#›</a:t>
            </a:fld>
            <a:endParaRPr lang="en-IN"/>
          </a:p>
        </p:txBody>
      </p:sp>
    </p:spTree>
    <p:extLst>
      <p:ext uri="{BB962C8B-B14F-4D97-AF65-F5344CB8AC3E}">
        <p14:creationId xmlns:p14="http://schemas.microsoft.com/office/powerpoint/2010/main" val="17539065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A15E4-E900-9464-E608-E212FA4FCF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E854A7-9834-2659-D9A5-3E3050986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400095E-2CB5-E06C-008F-D362DF28CB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C6B9BB6-6322-984E-3D2F-E4772D0EF94A}"/>
              </a:ext>
            </a:extLst>
          </p:cNvPr>
          <p:cNvSpPr>
            <a:spLocks noGrp="1"/>
          </p:cNvSpPr>
          <p:nvPr>
            <p:ph type="dt" sz="half" idx="10"/>
          </p:nvPr>
        </p:nvSpPr>
        <p:spPr/>
        <p:txBody>
          <a:bodyPr/>
          <a:lstStyle/>
          <a:p>
            <a:fld id="{F3820283-E915-46D2-A5B5-3020F7B956E2}" type="datetimeFigureOut">
              <a:rPr lang="en-IN" smtClean="0"/>
              <a:t>09-08-2026</a:t>
            </a:fld>
            <a:endParaRPr lang="en-IN"/>
          </a:p>
        </p:txBody>
      </p:sp>
      <p:sp>
        <p:nvSpPr>
          <p:cNvPr id="6" name="Footer Placeholder 5">
            <a:extLst>
              <a:ext uri="{FF2B5EF4-FFF2-40B4-BE49-F238E27FC236}">
                <a16:creationId xmlns:a16="http://schemas.microsoft.com/office/drawing/2014/main" id="{9D9B95B2-E88F-6DCE-80FD-6E84661663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E07F28-85EA-BF69-33B4-8B557C88E2AF}"/>
              </a:ext>
            </a:extLst>
          </p:cNvPr>
          <p:cNvSpPr>
            <a:spLocks noGrp="1"/>
          </p:cNvSpPr>
          <p:nvPr>
            <p:ph type="sldNum" sz="quarter" idx="12"/>
          </p:nvPr>
        </p:nvSpPr>
        <p:spPr/>
        <p:txBody>
          <a:bodyPr/>
          <a:lstStyle/>
          <a:p>
            <a:fld id="{578CE364-DA2B-4D79-93AD-F737E1B81049}" type="slidenum">
              <a:rPr lang="en-IN" smtClean="0"/>
              <a:t>‹#›</a:t>
            </a:fld>
            <a:endParaRPr lang="en-IN"/>
          </a:p>
        </p:txBody>
      </p:sp>
    </p:spTree>
    <p:extLst>
      <p:ext uri="{BB962C8B-B14F-4D97-AF65-F5344CB8AC3E}">
        <p14:creationId xmlns:p14="http://schemas.microsoft.com/office/powerpoint/2010/main" val="34359767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F7A94-4E6E-1262-F58C-9A94B29EC8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B09695C-D4CF-ADC5-3662-5C7ED194F4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808D08-77E9-C446-B9D4-83A84A014D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0B64CCD-ECEF-2CDC-3C10-49185AC3A7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0AC8BF-BAE9-B45A-410C-746C1B4015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40FCAED-37D7-980C-99D4-736FE3720FFB}"/>
              </a:ext>
            </a:extLst>
          </p:cNvPr>
          <p:cNvSpPr>
            <a:spLocks noGrp="1"/>
          </p:cNvSpPr>
          <p:nvPr>
            <p:ph type="dt" sz="half" idx="10"/>
          </p:nvPr>
        </p:nvSpPr>
        <p:spPr/>
        <p:txBody>
          <a:bodyPr/>
          <a:lstStyle/>
          <a:p>
            <a:fld id="{F3820283-E915-46D2-A5B5-3020F7B956E2}" type="datetimeFigureOut">
              <a:rPr lang="en-IN" smtClean="0"/>
              <a:t>09-08-2026</a:t>
            </a:fld>
            <a:endParaRPr lang="en-IN"/>
          </a:p>
        </p:txBody>
      </p:sp>
      <p:sp>
        <p:nvSpPr>
          <p:cNvPr id="8" name="Footer Placeholder 7">
            <a:extLst>
              <a:ext uri="{FF2B5EF4-FFF2-40B4-BE49-F238E27FC236}">
                <a16:creationId xmlns:a16="http://schemas.microsoft.com/office/drawing/2014/main" id="{2E7BAAEA-B7C7-7F85-06CE-480A446282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C55B789-67DB-29A8-A64C-3E3A27E87604}"/>
              </a:ext>
            </a:extLst>
          </p:cNvPr>
          <p:cNvSpPr>
            <a:spLocks noGrp="1"/>
          </p:cNvSpPr>
          <p:nvPr>
            <p:ph type="sldNum" sz="quarter" idx="12"/>
          </p:nvPr>
        </p:nvSpPr>
        <p:spPr/>
        <p:txBody>
          <a:bodyPr/>
          <a:lstStyle/>
          <a:p>
            <a:fld id="{578CE364-DA2B-4D79-93AD-F737E1B81049}" type="slidenum">
              <a:rPr lang="en-IN" smtClean="0"/>
              <a:t>‹#›</a:t>
            </a:fld>
            <a:endParaRPr lang="en-IN"/>
          </a:p>
        </p:txBody>
      </p:sp>
    </p:spTree>
    <p:extLst>
      <p:ext uri="{BB962C8B-B14F-4D97-AF65-F5344CB8AC3E}">
        <p14:creationId xmlns:p14="http://schemas.microsoft.com/office/powerpoint/2010/main" val="7779656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8D55F-7B0C-979F-563F-F0E3845B57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BD9078E-7A22-8132-FF4E-26181A640FE6}"/>
              </a:ext>
            </a:extLst>
          </p:cNvPr>
          <p:cNvSpPr>
            <a:spLocks noGrp="1"/>
          </p:cNvSpPr>
          <p:nvPr>
            <p:ph type="dt" sz="half" idx="10"/>
          </p:nvPr>
        </p:nvSpPr>
        <p:spPr/>
        <p:txBody>
          <a:bodyPr/>
          <a:lstStyle/>
          <a:p>
            <a:fld id="{F3820283-E915-46D2-A5B5-3020F7B956E2}" type="datetimeFigureOut">
              <a:rPr lang="en-IN" smtClean="0"/>
              <a:t>09-08-2026</a:t>
            </a:fld>
            <a:endParaRPr lang="en-IN"/>
          </a:p>
        </p:txBody>
      </p:sp>
      <p:sp>
        <p:nvSpPr>
          <p:cNvPr id="4" name="Footer Placeholder 3">
            <a:extLst>
              <a:ext uri="{FF2B5EF4-FFF2-40B4-BE49-F238E27FC236}">
                <a16:creationId xmlns:a16="http://schemas.microsoft.com/office/drawing/2014/main" id="{DF71B036-88AC-792A-381C-32C517BB104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75F9884-A819-80CA-B546-17E264609807}"/>
              </a:ext>
            </a:extLst>
          </p:cNvPr>
          <p:cNvSpPr>
            <a:spLocks noGrp="1"/>
          </p:cNvSpPr>
          <p:nvPr>
            <p:ph type="sldNum" sz="quarter" idx="12"/>
          </p:nvPr>
        </p:nvSpPr>
        <p:spPr/>
        <p:txBody>
          <a:bodyPr/>
          <a:lstStyle/>
          <a:p>
            <a:fld id="{578CE364-DA2B-4D79-93AD-F737E1B81049}" type="slidenum">
              <a:rPr lang="en-IN" smtClean="0"/>
              <a:t>‹#›</a:t>
            </a:fld>
            <a:endParaRPr lang="en-IN"/>
          </a:p>
        </p:txBody>
      </p:sp>
    </p:spTree>
    <p:extLst>
      <p:ext uri="{BB962C8B-B14F-4D97-AF65-F5344CB8AC3E}">
        <p14:creationId xmlns:p14="http://schemas.microsoft.com/office/powerpoint/2010/main" val="41834982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CAAFFA-1262-CEDF-692B-5069858C7FDE}"/>
              </a:ext>
            </a:extLst>
          </p:cNvPr>
          <p:cNvSpPr>
            <a:spLocks noGrp="1"/>
          </p:cNvSpPr>
          <p:nvPr>
            <p:ph type="dt" sz="half" idx="10"/>
          </p:nvPr>
        </p:nvSpPr>
        <p:spPr/>
        <p:txBody>
          <a:bodyPr/>
          <a:lstStyle/>
          <a:p>
            <a:fld id="{F3820283-E915-46D2-A5B5-3020F7B956E2}" type="datetimeFigureOut">
              <a:rPr lang="en-IN" smtClean="0"/>
              <a:t>09-08-2026</a:t>
            </a:fld>
            <a:endParaRPr lang="en-IN"/>
          </a:p>
        </p:txBody>
      </p:sp>
      <p:sp>
        <p:nvSpPr>
          <p:cNvPr id="3" name="Footer Placeholder 2">
            <a:extLst>
              <a:ext uri="{FF2B5EF4-FFF2-40B4-BE49-F238E27FC236}">
                <a16:creationId xmlns:a16="http://schemas.microsoft.com/office/drawing/2014/main" id="{4F21F406-0AA0-5268-9766-500DB3D457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5DFCC5B-18C3-888A-0C6E-8F7EBA76D8CD}"/>
              </a:ext>
            </a:extLst>
          </p:cNvPr>
          <p:cNvSpPr>
            <a:spLocks noGrp="1"/>
          </p:cNvSpPr>
          <p:nvPr>
            <p:ph type="sldNum" sz="quarter" idx="12"/>
          </p:nvPr>
        </p:nvSpPr>
        <p:spPr/>
        <p:txBody>
          <a:bodyPr/>
          <a:lstStyle/>
          <a:p>
            <a:fld id="{578CE364-DA2B-4D79-93AD-F737E1B81049}" type="slidenum">
              <a:rPr lang="en-IN" smtClean="0"/>
              <a:t>‹#›</a:t>
            </a:fld>
            <a:endParaRPr lang="en-IN"/>
          </a:p>
        </p:txBody>
      </p:sp>
    </p:spTree>
    <p:extLst>
      <p:ext uri="{BB962C8B-B14F-4D97-AF65-F5344CB8AC3E}">
        <p14:creationId xmlns:p14="http://schemas.microsoft.com/office/powerpoint/2010/main" val="821965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E5957-4E1D-D445-139D-BC0CF505D7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09B423-F0D4-D944-AF34-CE79FBFA9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6824414-AE81-0008-1590-207FCF6AE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32A37B-8D9B-69BE-A162-1DB813EE49EC}"/>
              </a:ext>
            </a:extLst>
          </p:cNvPr>
          <p:cNvSpPr>
            <a:spLocks noGrp="1"/>
          </p:cNvSpPr>
          <p:nvPr>
            <p:ph type="dt" sz="half" idx="10"/>
          </p:nvPr>
        </p:nvSpPr>
        <p:spPr/>
        <p:txBody>
          <a:bodyPr/>
          <a:lstStyle/>
          <a:p>
            <a:fld id="{F3820283-E915-46D2-A5B5-3020F7B956E2}" type="datetimeFigureOut">
              <a:rPr lang="en-IN" smtClean="0"/>
              <a:t>09-08-2026</a:t>
            </a:fld>
            <a:endParaRPr lang="en-IN"/>
          </a:p>
        </p:txBody>
      </p:sp>
      <p:sp>
        <p:nvSpPr>
          <p:cNvPr id="6" name="Footer Placeholder 5">
            <a:extLst>
              <a:ext uri="{FF2B5EF4-FFF2-40B4-BE49-F238E27FC236}">
                <a16:creationId xmlns:a16="http://schemas.microsoft.com/office/drawing/2014/main" id="{C8367917-B8DE-ADD8-D682-BD7C1DFCFC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D61EB4-BD90-175D-84CC-9C1EF4CC0791}"/>
              </a:ext>
            </a:extLst>
          </p:cNvPr>
          <p:cNvSpPr>
            <a:spLocks noGrp="1"/>
          </p:cNvSpPr>
          <p:nvPr>
            <p:ph type="sldNum" sz="quarter" idx="12"/>
          </p:nvPr>
        </p:nvSpPr>
        <p:spPr/>
        <p:txBody>
          <a:bodyPr/>
          <a:lstStyle/>
          <a:p>
            <a:fld id="{578CE364-DA2B-4D79-93AD-F737E1B81049}" type="slidenum">
              <a:rPr lang="en-IN" smtClean="0"/>
              <a:t>‹#›</a:t>
            </a:fld>
            <a:endParaRPr lang="en-IN"/>
          </a:p>
        </p:txBody>
      </p:sp>
    </p:spTree>
    <p:extLst>
      <p:ext uri="{BB962C8B-B14F-4D97-AF65-F5344CB8AC3E}">
        <p14:creationId xmlns:p14="http://schemas.microsoft.com/office/powerpoint/2010/main" val="2693936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23279-7ACB-5047-48C8-B7DA7A7F6C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C987A0A-247C-53EB-C91B-05CC848424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2E868A-AE3E-D85C-1296-A543BD5435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F95805-82CB-3459-B7A8-5CB0FCCA0803}"/>
              </a:ext>
            </a:extLst>
          </p:cNvPr>
          <p:cNvSpPr>
            <a:spLocks noGrp="1"/>
          </p:cNvSpPr>
          <p:nvPr>
            <p:ph type="dt" sz="half" idx="10"/>
          </p:nvPr>
        </p:nvSpPr>
        <p:spPr/>
        <p:txBody>
          <a:bodyPr/>
          <a:lstStyle/>
          <a:p>
            <a:fld id="{F3820283-E915-46D2-A5B5-3020F7B956E2}" type="datetimeFigureOut">
              <a:rPr lang="en-IN" smtClean="0"/>
              <a:t>09-08-2026</a:t>
            </a:fld>
            <a:endParaRPr lang="en-IN"/>
          </a:p>
        </p:txBody>
      </p:sp>
      <p:sp>
        <p:nvSpPr>
          <p:cNvPr id="6" name="Footer Placeholder 5">
            <a:extLst>
              <a:ext uri="{FF2B5EF4-FFF2-40B4-BE49-F238E27FC236}">
                <a16:creationId xmlns:a16="http://schemas.microsoft.com/office/drawing/2014/main" id="{5F3D0BFC-B6EE-ADBC-59BD-CDEBEB2908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B65ABF-3A97-169B-2A63-C4A89FBDEC15}"/>
              </a:ext>
            </a:extLst>
          </p:cNvPr>
          <p:cNvSpPr>
            <a:spLocks noGrp="1"/>
          </p:cNvSpPr>
          <p:nvPr>
            <p:ph type="sldNum" sz="quarter" idx="12"/>
          </p:nvPr>
        </p:nvSpPr>
        <p:spPr/>
        <p:txBody>
          <a:bodyPr/>
          <a:lstStyle/>
          <a:p>
            <a:fld id="{578CE364-DA2B-4D79-93AD-F737E1B81049}" type="slidenum">
              <a:rPr lang="en-IN" smtClean="0"/>
              <a:t>‹#›</a:t>
            </a:fld>
            <a:endParaRPr lang="en-IN"/>
          </a:p>
        </p:txBody>
      </p:sp>
    </p:spTree>
    <p:extLst>
      <p:ext uri="{BB962C8B-B14F-4D97-AF65-F5344CB8AC3E}">
        <p14:creationId xmlns:p14="http://schemas.microsoft.com/office/powerpoint/2010/main" val="6418857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02FA4-7EE8-AF28-4AEB-C8B10657D8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9F3D2A-F923-A14C-F236-CA53163B3A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F8123F-179C-6E05-45C7-351D4A060926}"/>
              </a:ext>
            </a:extLst>
          </p:cNvPr>
          <p:cNvSpPr>
            <a:spLocks noGrp="1"/>
          </p:cNvSpPr>
          <p:nvPr>
            <p:ph type="dt" sz="half" idx="10"/>
          </p:nvPr>
        </p:nvSpPr>
        <p:spPr/>
        <p:txBody>
          <a:bodyPr/>
          <a:lstStyle/>
          <a:p>
            <a:fld id="{F3820283-E915-46D2-A5B5-3020F7B956E2}" type="datetimeFigureOut">
              <a:rPr lang="en-IN" smtClean="0"/>
              <a:t>09-08-2026</a:t>
            </a:fld>
            <a:endParaRPr lang="en-IN"/>
          </a:p>
        </p:txBody>
      </p:sp>
      <p:sp>
        <p:nvSpPr>
          <p:cNvPr id="5" name="Footer Placeholder 4">
            <a:extLst>
              <a:ext uri="{FF2B5EF4-FFF2-40B4-BE49-F238E27FC236}">
                <a16:creationId xmlns:a16="http://schemas.microsoft.com/office/drawing/2014/main" id="{1772A0A2-3A13-D6EC-90AB-58A0A284BB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005634-68D9-4F69-8E11-A2566E915EC3}"/>
              </a:ext>
            </a:extLst>
          </p:cNvPr>
          <p:cNvSpPr>
            <a:spLocks noGrp="1"/>
          </p:cNvSpPr>
          <p:nvPr>
            <p:ph type="sldNum" sz="quarter" idx="12"/>
          </p:nvPr>
        </p:nvSpPr>
        <p:spPr/>
        <p:txBody>
          <a:bodyPr/>
          <a:lstStyle/>
          <a:p>
            <a:fld id="{578CE364-DA2B-4D79-93AD-F737E1B81049}" type="slidenum">
              <a:rPr lang="en-IN" smtClean="0"/>
              <a:t>‹#›</a:t>
            </a:fld>
            <a:endParaRPr lang="en-IN"/>
          </a:p>
        </p:txBody>
      </p:sp>
    </p:spTree>
    <p:extLst>
      <p:ext uri="{BB962C8B-B14F-4D97-AF65-F5344CB8AC3E}">
        <p14:creationId xmlns:p14="http://schemas.microsoft.com/office/powerpoint/2010/main" val="15448863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192DB2-CF15-8AF6-3C21-502C29B142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53A942-660E-EE9B-A90B-1663A9804B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FE216C-2925-EB93-D8C3-E8750CAA0A9E}"/>
              </a:ext>
            </a:extLst>
          </p:cNvPr>
          <p:cNvSpPr>
            <a:spLocks noGrp="1"/>
          </p:cNvSpPr>
          <p:nvPr>
            <p:ph type="dt" sz="half" idx="10"/>
          </p:nvPr>
        </p:nvSpPr>
        <p:spPr/>
        <p:txBody>
          <a:bodyPr/>
          <a:lstStyle/>
          <a:p>
            <a:fld id="{F3820283-E915-46D2-A5B5-3020F7B956E2}" type="datetimeFigureOut">
              <a:rPr lang="en-IN" smtClean="0"/>
              <a:t>09-08-2026</a:t>
            </a:fld>
            <a:endParaRPr lang="en-IN"/>
          </a:p>
        </p:txBody>
      </p:sp>
      <p:sp>
        <p:nvSpPr>
          <p:cNvPr id="5" name="Footer Placeholder 4">
            <a:extLst>
              <a:ext uri="{FF2B5EF4-FFF2-40B4-BE49-F238E27FC236}">
                <a16:creationId xmlns:a16="http://schemas.microsoft.com/office/drawing/2014/main" id="{0A597A6C-889D-7BF4-D0DE-4EA2A4A45C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4A4B7A-948D-0A4E-CFEF-68B9CB58F64D}"/>
              </a:ext>
            </a:extLst>
          </p:cNvPr>
          <p:cNvSpPr>
            <a:spLocks noGrp="1"/>
          </p:cNvSpPr>
          <p:nvPr>
            <p:ph type="sldNum" sz="quarter" idx="12"/>
          </p:nvPr>
        </p:nvSpPr>
        <p:spPr/>
        <p:txBody>
          <a:bodyPr/>
          <a:lstStyle/>
          <a:p>
            <a:fld id="{578CE364-DA2B-4D79-93AD-F737E1B81049}" type="slidenum">
              <a:rPr lang="en-IN" smtClean="0"/>
              <a:t>‹#›</a:t>
            </a:fld>
            <a:endParaRPr lang="en-IN"/>
          </a:p>
        </p:txBody>
      </p:sp>
    </p:spTree>
    <p:extLst>
      <p:ext uri="{BB962C8B-B14F-4D97-AF65-F5344CB8AC3E}">
        <p14:creationId xmlns:p14="http://schemas.microsoft.com/office/powerpoint/2010/main" val="1515700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589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090B73-5308-16F7-9B12-AF7341D19A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C0246D-4770-C684-58EC-177A85FA15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E9B0AD-53DE-F231-B139-EB85717A78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820283-E915-46D2-A5B5-3020F7B956E2}" type="datetimeFigureOut">
              <a:rPr lang="en-IN" smtClean="0"/>
              <a:t>09-08-2026</a:t>
            </a:fld>
            <a:endParaRPr lang="en-IN"/>
          </a:p>
        </p:txBody>
      </p:sp>
      <p:sp>
        <p:nvSpPr>
          <p:cNvPr id="5" name="Footer Placeholder 4">
            <a:extLst>
              <a:ext uri="{FF2B5EF4-FFF2-40B4-BE49-F238E27FC236}">
                <a16:creationId xmlns:a16="http://schemas.microsoft.com/office/drawing/2014/main" id="{517E1129-0650-4BE1-DF10-468BE52084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58DCB22-B47E-0751-C808-2DD3C177A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8CE364-DA2B-4D79-93AD-F737E1B81049}" type="slidenum">
              <a:rPr lang="en-IN" smtClean="0"/>
              <a:t>‹#›</a:t>
            </a:fld>
            <a:endParaRPr lang="en-IN"/>
          </a:p>
        </p:txBody>
      </p:sp>
    </p:spTree>
    <p:extLst>
      <p:ext uri="{BB962C8B-B14F-4D97-AF65-F5344CB8AC3E}">
        <p14:creationId xmlns:p14="http://schemas.microsoft.com/office/powerpoint/2010/main" val="15921018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mitpress.mit.edu/9780262043793/introduction-to-machine-learning/" TargetMode="External"/><Relationship Id="rId3" Type="http://schemas.openxmlformats.org/officeDocument/2006/relationships/hyperlink" Target="https://doi.org/10.1016/j.ijdrr.2024.104437" TargetMode="External"/><Relationship Id="rId7" Type="http://schemas.openxmlformats.org/officeDocument/2006/relationships/hyperlink" Target="https://aima.cs.berkeley.edu/"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ira.lib.polyu.edu.hk/handle/10397/108029" TargetMode="External"/><Relationship Id="rId11" Type="http://schemas.openxmlformats.org/officeDocument/2006/relationships/hyperlink" Target="https://www.openstreetmap.org/" TargetMode="External"/><Relationship Id="rId5" Type="http://schemas.openxmlformats.org/officeDocument/2006/relationships/hyperlink" Target="https://www.mdpi.com/2075-5309/13/5/1143" TargetMode="External"/><Relationship Id="rId10" Type="http://schemas.openxmlformats.org/officeDocument/2006/relationships/hyperlink" Target="https://doi.org/10.1109/TSSC.1968.300136" TargetMode="External"/><Relationship Id="rId4" Type="http://schemas.openxmlformats.org/officeDocument/2006/relationships/hyperlink" Target="https://www.sciencedirect.com/science/article/pii/S2772741624000231" TargetMode="External"/><Relationship Id="rId9" Type="http://schemas.openxmlformats.org/officeDocument/2006/relationships/hyperlink" Target="https://www.deeplearningbook.org/"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B88E0-B718-3EDA-6BEC-288B3A3C797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099D2CD-A8FE-8A46-85A2-004D2F8C997E}"/>
              </a:ext>
            </a:extLst>
          </p:cNvPr>
          <p:cNvSpPr/>
          <p:nvPr/>
        </p:nvSpPr>
        <p:spPr>
          <a:xfrm>
            <a:off x="5270104" y="1329631"/>
            <a:ext cx="6223794" cy="1760042"/>
          </a:xfrm>
          <a:prstGeom prst="rect">
            <a:avLst/>
          </a:prstGeom>
          <a:noFill/>
          <a:ln/>
        </p:spPr>
        <p:txBody>
          <a:bodyPr wrap="square" lIns="0" tIns="0" rIns="0" bIns="0" rtlCol="0" anchor="t"/>
          <a:lstStyle/>
          <a:p>
            <a:pPr>
              <a:lnSpc>
                <a:spcPts val="4583"/>
              </a:lnSpc>
            </a:pPr>
            <a:endParaRPr lang="en-US" sz="3667" dirty="0"/>
          </a:p>
        </p:txBody>
      </p:sp>
      <p:pic>
        <p:nvPicPr>
          <p:cNvPr id="1030" name="Picture 6" descr="SIMATS ENGINEERING —Profile">
            <a:extLst>
              <a:ext uri="{FF2B5EF4-FFF2-40B4-BE49-F238E27FC236}">
                <a16:creationId xmlns:a16="http://schemas.microsoft.com/office/drawing/2014/main" id="{57E0E4E2-ED00-AD91-E944-03925B9EC5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0300" y="264993"/>
            <a:ext cx="8539693" cy="108878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7E222BB-673F-77DF-3FEF-4077D5F58E24}"/>
              </a:ext>
            </a:extLst>
          </p:cNvPr>
          <p:cNvSpPr txBox="1"/>
          <p:nvPr/>
        </p:nvSpPr>
        <p:spPr>
          <a:xfrm>
            <a:off x="1652734" y="1743606"/>
            <a:ext cx="9137185" cy="1569660"/>
          </a:xfrm>
          <a:prstGeom prst="rect">
            <a:avLst/>
          </a:prstGeom>
          <a:noFill/>
        </p:spPr>
        <p:txBody>
          <a:bodyPr wrap="square">
            <a:spAutoFit/>
          </a:bodyPr>
          <a:lstStyle/>
          <a:p>
            <a:pPr algn="ctr"/>
            <a:r>
              <a:rPr lang="en-US" sz="3200" b="1" dirty="0" err="1">
                <a:latin typeface="Times New Roman" panose="02020603050405020304" pitchFamily="18" charset="0"/>
                <a:cs typeface="Times New Roman" panose="02020603050405020304" pitchFamily="18" charset="0"/>
              </a:rPr>
              <a:t>SentinelAI</a:t>
            </a:r>
            <a:r>
              <a:rPr lang="en-US" sz="3200" b="1" dirty="0">
                <a:latin typeface="Times New Roman" panose="02020603050405020304" pitchFamily="18" charset="0"/>
                <a:cs typeface="Times New Roman" panose="02020603050405020304" pitchFamily="18" charset="0"/>
              </a:rPr>
              <a:t>: A Multi-Agent Urban Digital Twin for Predictive Disaster Intelligence and Autonomous Emergency Response</a:t>
            </a:r>
            <a:endParaRPr lang="en-IN" sz="32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EDBB4AEF-3298-49F7-E8DF-29D46536A79D}"/>
              </a:ext>
            </a:extLst>
          </p:cNvPr>
          <p:cNvSpPr/>
          <p:nvPr/>
        </p:nvSpPr>
        <p:spPr>
          <a:xfrm>
            <a:off x="636193" y="3503648"/>
            <a:ext cx="4997164" cy="2494381"/>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dirty="0">
              <a:solidFill>
                <a:schemeClr val="tx1"/>
              </a:solidFill>
              <a:latin typeface="Times New Roman" panose="02020603050405020304" pitchFamily="18" charset="0"/>
              <a:cs typeface="Times New Roman" panose="02020603050405020304" pitchFamily="18" charset="0"/>
            </a:endParaRPr>
          </a:p>
          <a:p>
            <a:pPr algn="ctr">
              <a:lnSpc>
                <a:spcPct val="150000"/>
              </a:lnSpc>
            </a:pPr>
            <a:r>
              <a:rPr lang="en-US" b="1" dirty="0">
                <a:solidFill>
                  <a:schemeClr val="tx1"/>
                </a:solidFill>
                <a:latin typeface="Times New Roman" panose="02020603050405020304" pitchFamily="18" charset="0"/>
                <a:cs typeface="Times New Roman" panose="02020603050405020304" pitchFamily="18" charset="0"/>
              </a:rPr>
              <a:t>Presented by: </a:t>
            </a:r>
          </a:p>
          <a:p>
            <a:pPr algn="ctr">
              <a:lnSpc>
                <a:spcPct val="150000"/>
              </a:lnSpc>
            </a:pPr>
            <a:r>
              <a:rPr lang="en-US" dirty="0">
                <a:solidFill>
                  <a:schemeClr val="tx1"/>
                </a:solidFill>
                <a:latin typeface="Times New Roman" panose="02020603050405020304" pitchFamily="18" charset="0"/>
                <a:cs typeface="Times New Roman" panose="02020603050405020304" pitchFamily="18" charset="0"/>
              </a:rPr>
              <a:t>Santhosh Kumar B [192511053]</a:t>
            </a:r>
          </a:p>
          <a:p>
            <a:pPr algn="ctr">
              <a:lnSpc>
                <a:spcPct val="150000"/>
              </a:lnSpc>
            </a:pPr>
            <a:r>
              <a:rPr lang="en-IN" dirty="0">
                <a:solidFill>
                  <a:schemeClr val="tx1"/>
                </a:solidFill>
                <a:latin typeface="Times New Roman" panose="02020603050405020304" pitchFamily="18" charset="0"/>
                <a:cs typeface="Times New Roman" panose="02020603050405020304" pitchFamily="18" charset="0"/>
              </a:rPr>
              <a:t>Ganji Madhan Kumar [192472328] </a:t>
            </a:r>
          </a:p>
          <a:p>
            <a:pPr algn="ctr">
              <a:lnSpc>
                <a:spcPct val="150000"/>
              </a:lnSpc>
            </a:pPr>
            <a:r>
              <a:rPr lang="en-IN" dirty="0">
                <a:solidFill>
                  <a:schemeClr val="tx1"/>
                </a:solidFill>
                <a:latin typeface="Times New Roman" panose="02020603050405020304" pitchFamily="18" charset="0"/>
                <a:cs typeface="Times New Roman" panose="02020603050405020304" pitchFamily="18" charset="0"/>
              </a:rPr>
              <a:t>Avishek N [192511009]</a:t>
            </a:r>
          </a:p>
          <a:p>
            <a:pPr algn="ctr">
              <a:lnSpc>
                <a:spcPct val="150000"/>
              </a:lnSpc>
            </a:pPr>
            <a:r>
              <a:rPr lang="en-IN" dirty="0">
                <a:solidFill>
                  <a:schemeClr val="tx1"/>
                </a:solidFill>
                <a:latin typeface="Times New Roman" panose="02020603050405020304" pitchFamily="18" charset="0"/>
                <a:cs typeface="Times New Roman" panose="02020603050405020304" pitchFamily="18" charset="0"/>
              </a:rPr>
              <a:t>[CSA1709]-[Artificial Intelligence]</a:t>
            </a:r>
            <a:endParaRPr lang="en-US" dirty="0">
              <a:solidFill>
                <a:schemeClr val="tx1"/>
              </a:solidFill>
              <a:latin typeface="Times New Roman" panose="02020603050405020304" pitchFamily="18" charset="0"/>
              <a:cs typeface="Times New Roman" panose="02020603050405020304" pitchFamily="18" charset="0"/>
            </a:endParaRPr>
          </a:p>
          <a:p>
            <a:pPr algn="ctr">
              <a:lnSpc>
                <a:spcPct val="150000"/>
              </a:lnSpc>
            </a:pPr>
            <a:endParaRPr lang="en-IN" dirty="0">
              <a:solidFill>
                <a:schemeClr val="tx1"/>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7F6D5FA-30C5-5A9D-261F-7A3D1036D78F}"/>
              </a:ext>
            </a:extLst>
          </p:cNvPr>
          <p:cNvSpPr/>
          <p:nvPr/>
        </p:nvSpPr>
        <p:spPr>
          <a:xfrm>
            <a:off x="8147095" y="4286590"/>
            <a:ext cx="2736489" cy="9742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Times New Roman" panose="02020603050405020304" pitchFamily="18" charset="0"/>
              <a:cs typeface="Times New Roman" panose="02020603050405020304" pitchFamily="18" charset="0"/>
            </a:endParaRPr>
          </a:p>
          <a:p>
            <a:pPr algn="ctr"/>
            <a:r>
              <a:rPr lang="en-US" b="1" dirty="0">
                <a:solidFill>
                  <a:schemeClr val="tx1"/>
                </a:solidFill>
                <a:latin typeface="Times New Roman" panose="02020603050405020304" pitchFamily="18" charset="0"/>
                <a:cs typeface="Times New Roman" panose="02020603050405020304" pitchFamily="18" charset="0"/>
              </a:rPr>
              <a:t>Guided By:</a:t>
            </a:r>
          </a:p>
          <a:p>
            <a:pPr algn="ctr"/>
            <a:r>
              <a:rPr lang="en-US" dirty="0">
                <a:solidFill>
                  <a:schemeClr val="tx1"/>
                </a:solidFill>
                <a:latin typeface="Times New Roman" panose="02020603050405020304" pitchFamily="18" charset="0"/>
                <a:cs typeface="Times New Roman" panose="02020603050405020304" pitchFamily="18" charset="0"/>
              </a:rPr>
              <a:t>Dr P Rajaram</a:t>
            </a:r>
          </a:p>
          <a:p>
            <a:pPr algn="ct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2279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E82DC-9F44-5A9F-3F3E-C4D72054D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24224-138B-E36A-F493-C46536493744}"/>
              </a:ext>
            </a:extLst>
          </p:cNvPr>
          <p:cNvSpPr>
            <a:spLocks noGrp="1"/>
          </p:cNvSpPr>
          <p:nvPr>
            <p:ph type="title"/>
          </p:nvPr>
        </p:nvSpPr>
        <p:spPr>
          <a:xfrm>
            <a:off x="838200" y="-13607"/>
            <a:ext cx="10515600" cy="1624693"/>
          </a:xfrm>
        </p:spPr>
        <p:txBody>
          <a:bodyPr>
            <a:normAutofit/>
          </a:bodyPr>
          <a:lstStyle/>
          <a:p>
            <a:pPr algn="ctr"/>
            <a:r>
              <a:rPr lang="en-IN" sz="3600" b="1" dirty="0">
                <a:latin typeface="Times New Roman" panose="02020603050405020304" pitchFamily="18" charset="0"/>
                <a:cs typeface="Times New Roman" panose="02020603050405020304" pitchFamily="18" charset="0"/>
              </a:rPr>
              <a:t>Introduction</a:t>
            </a:r>
            <a:br>
              <a:rPr lang="en-IN" sz="3600" b="0" dirty="0">
                <a:effectLst/>
              </a:rPr>
            </a:br>
            <a:br>
              <a:rPr lang="en-IN" sz="3600" dirty="0"/>
            </a:br>
            <a:endParaRPr lang="en-IN" sz="3600" dirty="0"/>
          </a:p>
        </p:txBody>
      </p:sp>
      <p:sp>
        <p:nvSpPr>
          <p:cNvPr id="6" name="Rectangle 5">
            <a:extLst>
              <a:ext uri="{FF2B5EF4-FFF2-40B4-BE49-F238E27FC236}">
                <a16:creationId xmlns:a16="http://schemas.microsoft.com/office/drawing/2014/main" id="{DF19A846-2ADF-5578-8D8C-A6872AC2984F}"/>
              </a:ext>
            </a:extLst>
          </p:cNvPr>
          <p:cNvSpPr/>
          <p:nvPr/>
        </p:nvSpPr>
        <p:spPr>
          <a:xfrm>
            <a:off x="210910" y="1328738"/>
            <a:ext cx="4738895" cy="43766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1400" b="1" dirty="0">
                <a:latin typeface="Times New Roman" panose="02020603050405020304" pitchFamily="18" charset="0"/>
                <a:cs typeface="Times New Roman" panose="02020603050405020304" pitchFamily="18" charset="0"/>
              </a:rPr>
              <a:t>Overview of the Project</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Develops an AI-powered Urban Digital Twin for disaster prediction and emergency response.</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Integrates Weather APIs, IoT sensors, CCTV feeds, and citizen reports for real-time monitoring.</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Uses AI agents to detect disasters, optimize resource allocation, and support emergency decisions.</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Provides live visualization of risk zones, emergency routes, hospitals, and shelters.</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Enhances coordination between authorities and citizens through a unified emergency platform.</a:t>
            </a:r>
            <a:endParaRPr lang="en-IN" sz="1400" dirty="0"/>
          </a:p>
        </p:txBody>
      </p:sp>
      <p:sp>
        <p:nvSpPr>
          <p:cNvPr id="7" name="Rectangle 6">
            <a:extLst>
              <a:ext uri="{FF2B5EF4-FFF2-40B4-BE49-F238E27FC236}">
                <a16:creationId xmlns:a16="http://schemas.microsoft.com/office/drawing/2014/main" id="{30C43990-D2B6-1900-3186-5D36E8C6A15E}"/>
              </a:ext>
            </a:extLst>
          </p:cNvPr>
          <p:cNvSpPr/>
          <p:nvPr/>
        </p:nvSpPr>
        <p:spPr>
          <a:xfrm>
            <a:off x="5154384" y="3761593"/>
            <a:ext cx="6585148" cy="19438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1400" b="1" dirty="0">
                <a:latin typeface="Times New Roman" panose="02020603050405020304" pitchFamily="18" charset="0"/>
                <a:cs typeface="Times New Roman" panose="02020603050405020304" pitchFamily="18" charset="0"/>
              </a:rPr>
              <a:t>Purpose of the Project</a:t>
            </a:r>
            <a:endParaRPr lang="en-IN" sz="1400"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develop an AI-powered Urban Digital Twin for disaster management.</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predict disasters using real-time data from multiple sources.</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optimize emergency response through intelligent resource allocation.</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improve coordination between citizens and emergency authorities.</a:t>
            </a:r>
            <a:endParaRPr lang="en-US" sz="14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E23D9BE9-B469-1429-6B8C-E9BE6393A4C7}"/>
              </a:ext>
            </a:extLst>
          </p:cNvPr>
          <p:cNvSpPr/>
          <p:nvPr/>
        </p:nvSpPr>
        <p:spPr>
          <a:xfrm>
            <a:off x="5154385" y="1273628"/>
            <a:ext cx="6585148" cy="20773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1400" b="1" dirty="0">
                <a:latin typeface="Times New Roman" panose="02020603050405020304" pitchFamily="18" charset="0"/>
                <a:cs typeface="Times New Roman" panose="02020603050405020304" pitchFamily="18" charset="0"/>
              </a:rPr>
              <a:t>Problem Statement</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Delayed emergency response due to fragmented data and poor coordination.</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Lack of centralized monitoring for disasters and emergency resources.</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Manual verification slows critical emergency operations.</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Need for an AI-driven real-time disaster management system.</a:t>
            </a:r>
            <a:endParaRPr lang="en-IN" sz="1400" dirty="0">
              <a:latin typeface="Times New Roman" panose="02020603050405020304" pitchFamily="18" charset="0"/>
              <a:cs typeface="Times New Roman" panose="02020603050405020304" pitchFamily="18" charset="0"/>
            </a:endParaRPr>
          </a:p>
        </p:txBody>
      </p:sp>
      <p:sp>
        <p:nvSpPr>
          <p:cNvPr id="3" name="AutoShape 2" descr="Image of ">
            <a:extLst>
              <a:ext uri="{FF2B5EF4-FFF2-40B4-BE49-F238E27FC236}">
                <a16:creationId xmlns:a16="http://schemas.microsoft.com/office/drawing/2014/main" id="{B0C59522-5398-6E58-15D8-70B02CCD10F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2" name="Group 11">
            <a:extLst>
              <a:ext uri="{FF2B5EF4-FFF2-40B4-BE49-F238E27FC236}">
                <a16:creationId xmlns:a16="http://schemas.microsoft.com/office/drawing/2014/main" id="{0C8695B4-2B24-1AE3-96CD-360B0552CDFB}"/>
              </a:ext>
            </a:extLst>
          </p:cNvPr>
          <p:cNvGrpSpPr/>
          <p:nvPr/>
        </p:nvGrpSpPr>
        <p:grpSpPr>
          <a:xfrm>
            <a:off x="153761" y="0"/>
            <a:ext cx="11884478" cy="1182704"/>
            <a:chOff x="153761" y="0"/>
            <a:chExt cx="11884478" cy="1182704"/>
          </a:xfrm>
        </p:grpSpPr>
        <p:pic>
          <p:nvPicPr>
            <p:cNvPr id="10" name="Picture 6" descr="SIMATS ENGINEERING —Profile">
              <a:extLst>
                <a:ext uri="{FF2B5EF4-FFF2-40B4-BE49-F238E27FC236}">
                  <a16:creationId xmlns:a16="http://schemas.microsoft.com/office/drawing/2014/main" id="{487A61FA-C418-0836-7719-EC36C0420F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SIMATS ENGINEERING —Profile">
              <a:extLst>
                <a:ext uri="{FF2B5EF4-FFF2-40B4-BE49-F238E27FC236}">
                  <a16:creationId xmlns:a16="http://schemas.microsoft.com/office/drawing/2014/main" id="{F37C517C-FD1C-3385-826B-EC9402F720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5158648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3F69D13-8B10-0434-71DD-E4A2EDAC1E37}"/>
              </a:ext>
            </a:extLst>
          </p:cNvPr>
          <p:cNvSpPr/>
          <p:nvPr/>
        </p:nvSpPr>
        <p:spPr>
          <a:xfrm>
            <a:off x="38879" y="1600564"/>
            <a:ext cx="4655042" cy="414003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endParaRPr lang="en-US" sz="16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1BAB5F4-C11D-8010-00AA-BDF41FCF320B}"/>
              </a:ext>
            </a:extLst>
          </p:cNvPr>
          <p:cNvSpPr>
            <a:spLocks noGrp="1"/>
          </p:cNvSpPr>
          <p:nvPr>
            <p:ph type="title"/>
          </p:nvPr>
        </p:nvSpPr>
        <p:spPr>
          <a:xfrm>
            <a:off x="838200" y="288925"/>
            <a:ext cx="10515600" cy="1325563"/>
          </a:xfrm>
        </p:spPr>
        <p:txBody>
          <a:bodyPr>
            <a:noAutofit/>
          </a:bodyPr>
          <a:lstStyle/>
          <a:p>
            <a:pPr algn="ctr"/>
            <a:r>
              <a:rPr lang="en-IN" sz="3600" b="1" dirty="0">
                <a:latin typeface="Times New Roman" panose="02020603050405020304" pitchFamily="18" charset="0"/>
                <a:cs typeface="Times New Roman" panose="02020603050405020304" pitchFamily="18" charset="0"/>
              </a:rPr>
              <a:t>Objectives</a:t>
            </a:r>
            <a:br>
              <a:rPr lang="en-IN" sz="3600" b="0" dirty="0">
                <a:effectLst/>
              </a:rPr>
            </a:br>
            <a:br>
              <a:rPr lang="en-IN" sz="3600" dirty="0"/>
            </a:br>
            <a:endParaRPr lang="en-IN" sz="3600" dirty="0"/>
          </a:p>
        </p:txBody>
      </p:sp>
      <p:sp>
        <p:nvSpPr>
          <p:cNvPr id="10" name="AutoShape 4" descr="Image of ">
            <a:extLst>
              <a:ext uri="{FF2B5EF4-FFF2-40B4-BE49-F238E27FC236}">
                <a16:creationId xmlns:a16="http://schemas.microsoft.com/office/drawing/2014/main" id="{A1E5E534-B024-36C9-CC71-8B264FE9F03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2">
            <a:extLst>
              <a:ext uri="{FF2B5EF4-FFF2-40B4-BE49-F238E27FC236}">
                <a16:creationId xmlns:a16="http://schemas.microsoft.com/office/drawing/2014/main" id="{62B02D8E-3231-FF0C-DDBB-3B745E87F48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120E95D6-6BFD-802B-926D-43E55C6C4392}"/>
              </a:ext>
            </a:extLst>
          </p:cNvPr>
          <p:cNvSpPr txBox="1"/>
          <p:nvPr/>
        </p:nvSpPr>
        <p:spPr>
          <a:xfrm>
            <a:off x="153761" y="1972113"/>
            <a:ext cx="4468115" cy="360848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develop an AI-powered Urban Digital Twin for disaster management.</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integrate real-time data from weather, IoT sensors, CCTV, and </a:t>
            </a:r>
            <a:r>
              <a:rPr lang="en-US" sz="1400" dirty="0" err="1">
                <a:latin typeface="Times New Roman" panose="02020603050405020304" pitchFamily="18" charset="0"/>
                <a:cs typeface="Times New Roman" panose="02020603050405020304" pitchFamily="18" charset="0"/>
              </a:rPr>
              <a:t>citizens.To</a:t>
            </a:r>
            <a:r>
              <a:rPr lang="en-US" sz="1400" dirty="0">
                <a:latin typeface="Times New Roman" panose="02020603050405020304" pitchFamily="18" charset="0"/>
                <a:cs typeface="Times New Roman" panose="02020603050405020304" pitchFamily="18" charset="0"/>
              </a:rPr>
              <a:t> detect disasters using Artificial Intelligence and Computer Vision.</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optimize emergency response and evacuation routes using AI.</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improve coordination between citizens and emergency authorities.</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enhance public safety through intelligent decision support.</a:t>
            </a:r>
          </a:p>
        </p:txBody>
      </p:sp>
      <p:grpSp>
        <p:nvGrpSpPr>
          <p:cNvPr id="12" name="Group 11">
            <a:extLst>
              <a:ext uri="{FF2B5EF4-FFF2-40B4-BE49-F238E27FC236}">
                <a16:creationId xmlns:a16="http://schemas.microsoft.com/office/drawing/2014/main" id="{041626FB-F2BC-F201-D0D1-0A945FD1A434}"/>
              </a:ext>
            </a:extLst>
          </p:cNvPr>
          <p:cNvGrpSpPr/>
          <p:nvPr/>
        </p:nvGrpSpPr>
        <p:grpSpPr>
          <a:xfrm>
            <a:off x="153761" y="0"/>
            <a:ext cx="11884478" cy="1182704"/>
            <a:chOff x="153761" y="0"/>
            <a:chExt cx="11884478" cy="1182704"/>
          </a:xfrm>
        </p:grpSpPr>
        <p:pic>
          <p:nvPicPr>
            <p:cNvPr id="13" name="Picture 6" descr="SIMATS ENGINEERING —Profile">
              <a:extLst>
                <a:ext uri="{FF2B5EF4-FFF2-40B4-BE49-F238E27FC236}">
                  <a16:creationId xmlns:a16="http://schemas.microsoft.com/office/drawing/2014/main" id="{C62C9D46-F150-5C22-4F56-2684D9B038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SIMATS ENGINEERING —Profile">
              <a:extLst>
                <a:ext uri="{FF2B5EF4-FFF2-40B4-BE49-F238E27FC236}">
                  <a16:creationId xmlns:a16="http://schemas.microsoft.com/office/drawing/2014/main" id="{C808B980-11C8-3774-3C18-7C301D9DE99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AutoShape 2" descr=", AI generated">
            <a:extLst>
              <a:ext uri="{FF2B5EF4-FFF2-40B4-BE49-F238E27FC236}">
                <a16:creationId xmlns:a16="http://schemas.microsoft.com/office/drawing/2014/main" id="{D650BA84-D877-B9C5-F368-3B2D28350DCE}"/>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C16084E8-1991-3BB6-498A-2D72CBEC6491}"/>
              </a:ext>
            </a:extLst>
          </p:cNvPr>
          <p:cNvPicPr>
            <a:picLocks noChangeAspect="1"/>
          </p:cNvPicPr>
          <p:nvPr/>
        </p:nvPicPr>
        <p:blipFill>
          <a:blip r:embed="rId3"/>
          <a:stretch>
            <a:fillRect/>
          </a:stretch>
        </p:blipFill>
        <p:spPr>
          <a:xfrm>
            <a:off x="4808803" y="1246909"/>
            <a:ext cx="7312209" cy="4821381"/>
          </a:xfrm>
          <a:prstGeom prst="rect">
            <a:avLst/>
          </a:prstGeom>
        </p:spPr>
      </p:pic>
    </p:spTree>
    <p:extLst>
      <p:ext uri="{BB962C8B-B14F-4D97-AF65-F5344CB8AC3E}">
        <p14:creationId xmlns:p14="http://schemas.microsoft.com/office/powerpoint/2010/main" val="4254817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8AC47F57-C0DE-6C72-101F-38D1558224EB}"/>
              </a:ext>
            </a:extLst>
          </p:cNvPr>
          <p:cNvGraphicFramePr>
            <a:graphicFrameLocks noGrp="1"/>
          </p:cNvGraphicFramePr>
          <p:nvPr>
            <p:ph idx="1"/>
            <p:extLst>
              <p:ext uri="{D42A27DB-BD31-4B8C-83A1-F6EECF244321}">
                <p14:modId xmlns:p14="http://schemas.microsoft.com/office/powerpoint/2010/main" val="4177095960"/>
              </p:ext>
            </p:extLst>
          </p:nvPr>
        </p:nvGraphicFramePr>
        <p:xfrm>
          <a:off x="54502" y="1290226"/>
          <a:ext cx="12080980" cy="5374712"/>
        </p:xfrm>
        <a:graphic>
          <a:graphicData uri="http://schemas.openxmlformats.org/drawingml/2006/table">
            <a:tbl>
              <a:tblPr>
                <a:tableStyleId>{5940675A-B579-460E-94D1-54222C63F5DA}</a:tableStyleId>
              </a:tblPr>
              <a:tblGrid>
                <a:gridCol w="920478">
                  <a:extLst>
                    <a:ext uri="{9D8B030D-6E8A-4147-A177-3AD203B41FA5}">
                      <a16:colId xmlns:a16="http://schemas.microsoft.com/office/drawing/2014/main" val="2238152979"/>
                    </a:ext>
                  </a:extLst>
                </a:gridCol>
                <a:gridCol w="3775754">
                  <a:extLst>
                    <a:ext uri="{9D8B030D-6E8A-4147-A177-3AD203B41FA5}">
                      <a16:colId xmlns:a16="http://schemas.microsoft.com/office/drawing/2014/main" val="571551603"/>
                    </a:ext>
                  </a:extLst>
                </a:gridCol>
                <a:gridCol w="1851025">
                  <a:extLst>
                    <a:ext uri="{9D8B030D-6E8A-4147-A177-3AD203B41FA5}">
                      <a16:colId xmlns:a16="http://schemas.microsoft.com/office/drawing/2014/main" val="1480426104"/>
                    </a:ext>
                  </a:extLst>
                </a:gridCol>
                <a:gridCol w="2817073">
                  <a:extLst>
                    <a:ext uri="{9D8B030D-6E8A-4147-A177-3AD203B41FA5}">
                      <a16:colId xmlns:a16="http://schemas.microsoft.com/office/drawing/2014/main" val="120838359"/>
                    </a:ext>
                  </a:extLst>
                </a:gridCol>
                <a:gridCol w="2716650">
                  <a:extLst>
                    <a:ext uri="{9D8B030D-6E8A-4147-A177-3AD203B41FA5}">
                      <a16:colId xmlns:a16="http://schemas.microsoft.com/office/drawing/2014/main" val="3084463574"/>
                    </a:ext>
                  </a:extLst>
                </a:gridCol>
              </a:tblGrid>
              <a:tr h="298853">
                <a:tc>
                  <a:txBody>
                    <a:bodyPr/>
                    <a:lstStyle/>
                    <a:p>
                      <a:pPr>
                        <a:buNone/>
                      </a:pPr>
                      <a:r>
                        <a:rPr lang="en-IN" sz="1400" dirty="0" err="1">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anchor="ctr">
                    <a:solidFill>
                      <a:schemeClr val="accent1">
                        <a:lumMod val="40000"/>
                        <a:lumOff val="60000"/>
                      </a:schemeClr>
                    </a:solidFill>
                  </a:tcPr>
                </a:tc>
                <a:tc>
                  <a:txBody>
                    <a:bodyPr/>
                    <a:lstStyle/>
                    <a:p>
                      <a:pPr>
                        <a:buNone/>
                      </a:pPr>
                      <a:r>
                        <a:rPr lang="en-IN" sz="1400">
                          <a:latin typeface="Times New Roman" panose="02020603050405020304" pitchFamily="18" charset="0"/>
                          <a:cs typeface="Times New Roman" panose="02020603050405020304" pitchFamily="18" charset="0"/>
                        </a:rPr>
                        <a:t>Title</a:t>
                      </a:r>
                    </a:p>
                  </a:txBody>
                  <a:tcPr anchor="ctr">
                    <a:solidFill>
                      <a:schemeClr val="accent1">
                        <a:lumMod val="40000"/>
                        <a:lumOff val="60000"/>
                      </a:schemeClr>
                    </a:solidFill>
                  </a:tcPr>
                </a:tc>
                <a:tc>
                  <a:txBody>
                    <a:bodyPr/>
                    <a:lstStyle/>
                    <a:p>
                      <a:pPr>
                        <a:buNone/>
                      </a:pPr>
                      <a:r>
                        <a:rPr lang="en-IN" sz="1400">
                          <a:latin typeface="Times New Roman" panose="02020603050405020304" pitchFamily="18" charset="0"/>
                          <a:cs typeface="Times New Roman" panose="02020603050405020304" pitchFamily="18" charset="0"/>
                        </a:rPr>
                        <a:t>Authors &amp; Year</a:t>
                      </a:r>
                    </a:p>
                  </a:txBody>
                  <a:tcPr anchor="ctr">
                    <a:solidFill>
                      <a:schemeClr val="accent1">
                        <a:lumMod val="40000"/>
                        <a:lumOff val="60000"/>
                      </a:schemeClr>
                    </a:solidFill>
                  </a:tcPr>
                </a:tc>
                <a:tc>
                  <a:txBody>
                    <a:bodyPr/>
                    <a:lstStyle/>
                    <a:p>
                      <a:pPr>
                        <a:buNone/>
                      </a:pPr>
                      <a:r>
                        <a:rPr lang="en-IN" sz="1400">
                          <a:latin typeface="Times New Roman" panose="02020603050405020304" pitchFamily="18" charset="0"/>
                          <a:cs typeface="Times New Roman" panose="02020603050405020304" pitchFamily="18" charset="0"/>
                        </a:rPr>
                        <a:t>Methodology Used</a:t>
                      </a:r>
                    </a:p>
                  </a:txBody>
                  <a:tcPr anchor="ctr">
                    <a:solidFill>
                      <a:schemeClr val="accent1">
                        <a:lumMod val="40000"/>
                        <a:lumOff val="60000"/>
                      </a:schemeClr>
                    </a:solidFill>
                  </a:tcPr>
                </a:tc>
                <a:tc>
                  <a:txBody>
                    <a:bodyPr/>
                    <a:lstStyle/>
                    <a:p>
                      <a:pPr>
                        <a:buNone/>
                      </a:pPr>
                      <a:r>
                        <a:rPr lang="en-IN" sz="1400">
                          <a:latin typeface="Times New Roman" panose="02020603050405020304" pitchFamily="18" charset="0"/>
                          <a:cs typeface="Times New Roman" panose="02020603050405020304" pitchFamily="18" charset="0"/>
                        </a:rPr>
                        <a:t>Key Findings</a:t>
                      </a:r>
                    </a:p>
                  </a:txBody>
                  <a:tcPr anchor="ctr">
                    <a:solidFill>
                      <a:schemeClr val="accent1">
                        <a:lumMod val="40000"/>
                        <a:lumOff val="60000"/>
                      </a:schemeClr>
                    </a:solidFill>
                  </a:tcPr>
                </a:tc>
                <a:extLst>
                  <a:ext uri="{0D108BD9-81ED-4DB2-BD59-A6C34878D82A}">
                    <a16:rowId xmlns:a16="http://schemas.microsoft.com/office/drawing/2014/main" val="2942602819"/>
                  </a:ext>
                </a:extLst>
              </a:tr>
              <a:tr h="1003479">
                <a:tc>
                  <a:txBody>
                    <a:bodyPr/>
                    <a:lstStyle/>
                    <a:p>
                      <a:pPr>
                        <a:buNone/>
                      </a:pPr>
                      <a:r>
                        <a:rPr lang="en-IN" sz="1400" dirty="0">
                          <a:latin typeface="Times New Roman" panose="02020603050405020304" pitchFamily="18" charset="0"/>
                          <a:cs typeface="Times New Roman" panose="02020603050405020304" pitchFamily="18" charset="0"/>
                        </a:rPr>
                        <a:t>1</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Continuing from the Sendai Framework Midterm: Opportunities for Urban Digital Twins in Disaster Risk Management</a:t>
                      </a:r>
                    </a:p>
                  </a:txBody>
                  <a:tcPr anchor="ctr"/>
                </a:tc>
                <a:tc>
                  <a:txBody>
                    <a:bodyPr/>
                    <a:lstStyle/>
                    <a:p>
                      <a:pPr>
                        <a:buNone/>
                      </a:pPr>
                      <a:r>
                        <a:rPr lang="fi-FI" sz="1400" dirty="0">
                          <a:latin typeface="Times New Roman" panose="02020603050405020304" pitchFamily="18" charset="0"/>
                          <a:cs typeface="Times New Roman" panose="02020603050405020304" pitchFamily="18" charset="0"/>
                        </a:rPr>
                        <a:t>Biao He et al., 2024</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latin typeface="Times New Roman" panose="02020603050405020304" pitchFamily="18" charset="0"/>
                          <a:cs typeface="Times New Roman" panose="02020603050405020304" pitchFamily="18" charset="0"/>
                        </a:rPr>
                        <a:t>Urban Digital Twin and disaster risk analysisImproved disaster monitoring and decision support</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latin typeface="Times New Roman" panose="02020603050405020304" pitchFamily="18" charset="0"/>
                          <a:cs typeface="Times New Roman" panose="02020603050405020304" pitchFamily="18" charset="0"/>
                        </a:rPr>
                        <a:t>Urban Digital Twin and disaster risk analysisImproved disaster monitoring and decision support</a:t>
                      </a:r>
                      <a:endParaRPr lang="en-US"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12802749"/>
                  </a:ext>
                </a:extLst>
              </a:tr>
              <a:tr h="815327">
                <a:tc>
                  <a:txBody>
                    <a:bodyPr/>
                    <a:lstStyle/>
                    <a:p>
                      <a:pPr>
                        <a:buNone/>
                      </a:pPr>
                      <a:r>
                        <a:rPr lang="en-IN" sz="1400">
                          <a:latin typeface="Times New Roman" panose="02020603050405020304" pitchFamily="18" charset="0"/>
                          <a:cs typeface="Times New Roman" panose="02020603050405020304" pitchFamily="18" charset="0"/>
                        </a:rPr>
                        <a:t>2</a:t>
                      </a:r>
                    </a:p>
                  </a:txBody>
                  <a:tcPr anchor="ctr"/>
                </a:tc>
                <a:tc>
                  <a:txBody>
                    <a:bodyPr/>
                    <a:lstStyle/>
                    <a:p>
                      <a:pPr>
                        <a:buNone/>
                      </a:pPr>
                      <a:r>
                        <a:rPr lang="en-US" sz="1400">
                          <a:latin typeface="Times New Roman" panose="02020603050405020304" pitchFamily="18" charset="0"/>
                          <a:cs typeface="Times New Roman" panose="02020603050405020304" pitchFamily="18" charset="0"/>
                        </a:rPr>
                        <a:t>Digital Twin Approach for Enhancing Urban Resilience: A Cycle Between Virtual Space and the Real World</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Wang et al., 2024</a:t>
                      </a:r>
                    </a:p>
                  </a:txBody>
                  <a:tcPr anchor="ctr"/>
                </a:tc>
                <a:tc>
                  <a:txBody>
                    <a:bodyPr/>
                    <a:lstStyle/>
                    <a:p>
                      <a:pPr>
                        <a:buNone/>
                      </a:pPr>
                      <a:r>
                        <a:rPr lang="en-US" sz="1400">
                          <a:latin typeface="Times New Roman" panose="02020603050405020304" pitchFamily="18" charset="0"/>
                          <a:cs typeface="Times New Roman" panose="02020603050405020304" pitchFamily="18" charset="0"/>
                        </a:rPr>
                        <a:t>Digital Twin with urban resilience frameworkEnhanced emergency planning and city resilience</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Digital Twin with urban resilience </a:t>
                      </a:r>
                      <a:r>
                        <a:rPr lang="en-US" sz="1400" dirty="0" err="1">
                          <a:latin typeface="Times New Roman" panose="02020603050405020304" pitchFamily="18" charset="0"/>
                          <a:cs typeface="Times New Roman" panose="02020603050405020304" pitchFamily="18" charset="0"/>
                        </a:rPr>
                        <a:t>frameworkEnhanced</a:t>
                      </a:r>
                      <a:r>
                        <a:rPr lang="en-US" sz="1400" dirty="0">
                          <a:latin typeface="Times New Roman" panose="02020603050405020304" pitchFamily="18" charset="0"/>
                          <a:cs typeface="Times New Roman" panose="02020603050405020304" pitchFamily="18" charset="0"/>
                        </a:rPr>
                        <a:t> emergency planning and city resilience</a:t>
                      </a:r>
                    </a:p>
                  </a:txBody>
                  <a:tcPr anchor="ctr"/>
                </a:tc>
                <a:extLst>
                  <a:ext uri="{0D108BD9-81ED-4DB2-BD59-A6C34878D82A}">
                    <a16:rowId xmlns:a16="http://schemas.microsoft.com/office/drawing/2014/main" val="1391442998"/>
                  </a:ext>
                </a:extLst>
              </a:tr>
              <a:tr h="926443">
                <a:tc>
                  <a:txBody>
                    <a:bodyPr/>
                    <a:lstStyle/>
                    <a:p>
                      <a:pPr>
                        <a:buNone/>
                      </a:pPr>
                      <a:r>
                        <a:rPr lang="en-IN" sz="1400">
                          <a:latin typeface="Times New Roman" panose="02020603050405020304" pitchFamily="18" charset="0"/>
                          <a:cs typeface="Times New Roman" panose="02020603050405020304" pitchFamily="18" charset="0"/>
                        </a:rPr>
                        <a:t>3</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Digital Post-Disaster Risk Management Twinning: A Review and Improved Conceptual Framework</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Sharma et al., 2024</a:t>
                      </a:r>
                    </a:p>
                  </a:txBody>
                  <a:tcPr anchor="ctr"/>
                </a:tc>
                <a:tc>
                  <a:txBody>
                    <a:bodyPr/>
                    <a:lstStyle/>
                    <a:p>
                      <a:pPr>
                        <a:buNone/>
                      </a:pPr>
                      <a:r>
                        <a:rPr lang="en-US" sz="1400">
                          <a:latin typeface="Times New Roman" panose="02020603050405020304" pitchFamily="18" charset="0"/>
                          <a:cs typeface="Times New Roman" panose="02020603050405020304" pitchFamily="18" charset="0"/>
                        </a:rPr>
                        <a:t>AI-enabled Digital Twin frameworkBetter disaster response and resource coordination</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AI-enabled Digital Twin </a:t>
                      </a:r>
                      <a:r>
                        <a:rPr lang="en-US" sz="1400" dirty="0" err="1">
                          <a:latin typeface="Times New Roman" panose="02020603050405020304" pitchFamily="18" charset="0"/>
                          <a:cs typeface="Times New Roman" panose="02020603050405020304" pitchFamily="18" charset="0"/>
                        </a:rPr>
                        <a:t>frameworkBetter</a:t>
                      </a:r>
                      <a:r>
                        <a:rPr lang="en-US" sz="1400" dirty="0">
                          <a:latin typeface="Times New Roman" panose="02020603050405020304" pitchFamily="18" charset="0"/>
                          <a:cs typeface="Times New Roman" panose="02020603050405020304" pitchFamily="18" charset="0"/>
                        </a:rPr>
                        <a:t> disaster response and resource coordination</a:t>
                      </a:r>
                    </a:p>
                  </a:txBody>
                  <a:tcPr anchor="ctr"/>
                </a:tc>
                <a:extLst>
                  <a:ext uri="{0D108BD9-81ED-4DB2-BD59-A6C34878D82A}">
                    <a16:rowId xmlns:a16="http://schemas.microsoft.com/office/drawing/2014/main" val="3345887574"/>
                  </a:ext>
                </a:extLst>
              </a:tr>
              <a:tr h="926443">
                <a:tc>
                  <a:txBody>
                    <a:bodyPr/>
                    <a:lstStyle/>
                    <a:p>
                      <a:pPr>
                        <a:buNone/>
                      </a:pPr>
                      <a:r>
                        <a:rPr lang="en-IN" sz="1400" dirty="0">
                          <a:latin typeface="Times New Roman" panose="02020603050405020304" pitchFamily="18" charset="0"/>
                          <a:cs typeface="Times New Roman" panose="02020603050405020304" pitchFamily="18" charset="0"/>
                        </a:rPr>
                        <a:t>4</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A Review of Digital Twin Applications in Civil and Infrastructure Emergency Management</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Zhang et al., 2023</a:t>
                      </a:r>
                    </a:p>
                  </a:txBody>
                  <a:tcPr anchor="ctr"/>
                </a:tc>
                <a:tc>
                  <a:txBody>
                    <a:bodyPr/>
                    <a:lstStyle/>
                    <a:p>
                      <a:pPr>
                        <a:buNone/>
                      </a:pPr>
                      <a:r>
                        <a:rPr lang="en-US" sz="1400">
                          <a:latin typeface="Times New Roman" panose="02020603050405020304" pitchFamily="18" charset="0"/>
                          <a:cs typeface="Times New Roman" panose="02020603050405020304" pitchFamily="18" charset="0"/>
                        </a:rPr>
                        <a:t>Digital Twin and emergency management reviewImproved infrastructure monitoring and emergency response</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Digital Twin and emergency management </a:t>
                      </a:r>
                      <a:r>
                        <a:rPr lang="en-US" sz="1400" dirty="0" err="1">
                          <a:latin typeface="Times New Roman" panose="02020603050405020304" pitchFamily="18" charset="0"/>
                          <a:cs typeface="Times New Roman" panose="02020603050405020304" pitchFamily="18" charset="0"/>
                        </a:rPr>
                        <a:t>reviewImproved</a:t>
                      </a:r>
                      <a:r>
                        <a:rPr lang="en-US" sz="1400" dirty="0">
                          <a:latin typeface="Times New Roman" panose="02020603050405020304" pitchFamily="18" charset="0"/>
                          <a:cs typeface="Times New Roman" panose="02020603050405020304" pitchFamily="18" charset="0"/>
                        </a:rPr>
                        <a:t> infrastructure monitoring and emergency response</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65139179"/>
                  </a:ext>
                </a:extLst>
              </a:tr>
              <a:tr h="1379783">
                <a:tc>
                  <a:txBody>
                    <a:bodyPr/>
                    <a:lstStyle/>
                    <a:p>
                      <a:pPr>
                        <a:buNone/>
                      </a:pPr>
                      <a:r>
                        <a:rPr lang="en-IN" sz="1400">
                          <a:latin typeface="Times New Roman" panose="02020603050405020304" pitchFamily="18" charset="0"/>
                          <a:cs typeface="Times New Roman" panose="02020603050405020304" pitchFamily="18" charset="0"/>
                        </a:rPr>
                        <a:t>5</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Intelligent Emergency Digital Twin System for Monitoring Building Fire Evacuation</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Ding et al., 2023</a:t>
                      </a:r>
                    </a:p>
                  </a:txBody>
                  <a:tcPr anchor="ctr"/>
                </a:tc>
                <a:tc>
                  <a:txBody>
                    <a:bodyPr/>
                    <a:lstStyle/>
                    <a:p>
                      <a:pPr>
                        <a:buNone/>
                      </a:pPr>
                      <a:r>
                        <a:rPr lang="en-US" sz="1400">
                          <a:latin typeface="Times New Roman" panose="02020603050405020304" pitchFamily="18" charset="0"/>
                          <a:cs typeface="Times New Roman" panose="02020603050405020304" pitchFamily="18" charset="0"/>
                        </a:rPr>
                        <a:t>Computer Vision with Digital TwinReal-time evacuation monitoring and decision support</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Computer Vision with Digital </a:t>
                      </a:r>
                      <a:r>
                        <a:rPr lang="en-US" sz="1400" dirty="0" err="1">
                          <a:latin typeface="Times New Roman" panose="02020603050405020304" pitchFamily="18" charset="0"/>
                          <a:cs typeface="Times New Roman" panose="02020603050405020304" pitchFamily="18" charset="0"/>
                        </a:rPr>
                        <a:t>TwinReal</a:t>
                      </a:r>
                      <a:r>
                        <a:rPr lang="en-US" sz="1400" dirty="0">
                          <a:latin typeface="Times New Roman" panose="02020603050405020304" pitchFamily="18" charset="0"/>
                          <a:cs typeface="Times New Roman" panose="02020603050405020304" pitchFamily="18" charset="0"/>
                        </a:rPr>
                        <a:t>-time evacuation monitoring and decision support</a:t>
                      </a:r>
                    </a:p>
                  </a:txBody>
                  <a:tcPr anchor="ctr"/>
                </a:tc>
                <a:extLst>
                  <a:ext uri="{0D108BD9-81ED-4DB2-BD59-A6C34878D82A}">
                    <a16:rowId xmlns:a16="http://schemas.microsoft.com/office/drawing/2014/main" val="1685088342"/>
                  </a:ext>
                </a:extLst>
              </a:tr>
            </a:tbl>
          </a:graphicData>
        </a:graphic>
      </p:graphicFrame>
      <p:sp>
        <p:nvSpPr>
          <p:cNvPr id="4" name="Title 1">
            <a:extLst>
              <a:ext uri="{FF2B5EF4-FFF2-40B4-BE49-F238E27FC236}">
                <a16:creationId xmlns:a16="http://schemas.microsoft.com/office/drawing/2014/main" id="{B66310DF-B60D-387F-6069-10281DD00CA9}"/>
              </a:ext>
            </a:extLst>
          </p:cNvPr>
          <p:cNvSpPr>
            <a:spLocks noGrp="1"/>
          </p:cNvSpPr>
          <p:nvPr>
            <p:ph type="title"/>
          </p:nvPr>
        </p:nvSpPr>
        <p:spPr>
          <a:xfrm>
            <a:off x="898071" y="174625"/>
            <a:ext cx="10515600" cy="271689"/>
          </a:xfrm>
        </p:spPr>
        <p:txBody>
          <a:bodyPr>
            <a:normAutofit fontScale="90000"/>
          </a:bodyPr>
          <a:lstStyle/>
          <a:p>
            <a:pPr algn="ctr"/>
            <a:r>
              <a:rPr lang="en-IN" sz="3600" b="1" dirty="0">
                <a:latin typeface="Times New Roman" panose="02020603050405020304" pitchFamily="18" charset="0"/>
                <a:cs typeface="Times New Roman" panose="02020603050405020304" pitchFamily="18" charset="0"/>
              </a:rPr>
              <a:t>Literature Review / Background 	</a:t>
            </a:r>
          </a:p>
        </p:txBody>
      </p:sp>
      <p:grpSp>
        <p:nvGrpSpPr>
          <p:cNvPr id="6" name="Group 5">
            <a:extLst>
              <a:ext uri="{FF2B5EF4-FFF2-40B4-BE49-F238E27FC236}">
                <a16:creationId xmlns:a16="http://schemas.microsoft.com/office/drawing/2014/main" id="{272E5A26-3EC4-3AFC-AF70-B0906047A15D}"/>
              </a:ext>
            </a:extLst>
          </p:cNvPr>
          <p:cNvGrpSpPr/>
          <p:nvPr/>
        </p:nvGrpSpPr>
        <p:grpSpPr>
          <a:xfrm>
            <a:off x="153761" y="0"/>
            <a:ext cx="11884478" cy="1182704"/>
            <a:chOff x="153761" y="0"/>
            <a:chExt cx="11884478" cy="1182704"/>
          </a:xfrm>
        </p:grpSpPr>
        <p:pic>
          <p:nvPicPr>
            <p:cNvPr id="7" name="Picture 6" descr="SIMATS ENGINEERING —Profile">
              <a:extLst>
                <a:ext uri="{FF2B5EF4-FFF2-40B4-BE49-F238E27FC236}">
                  <a16:creationId xmlns:a16="http://schemas.microsoft.com/office/drawing/2014/main" id="{532ADE19-2436-8634-65B1-08387293AF0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IMATS ENGINEERING —Profile">
              <a:extLst>
                <a:ext uri="{FF2B5EF4-FFF2-40B4-BE49-F238E27FC236}">
                  <a16:creationId xmlns:a16="http://schemas.microsoft.com/office/drawing/2014/main" id="{AF14527F-5D38-CE3A-6576-BEE595D677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07625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C08811-4075-6A85-D1E0-D426B50575ED}"/>
              </a:ext>
            </a:extLst>
          </p:cNvPr>
          <p:cNvGrpSpPr/>
          <p:nvPr/>
        </p:nvGrpSpPr>
        <p:grpSpPr>
          <a:xfrm>
            <a:off x="153761" y="0"/>
            <a:ext cx="11884478" cy="1182704"/>
            <a:chOff x="153761" y="0"/>
            <a:chExt cx="11884478" cy="1182704"/>
          </a:xfrm>
        </p:grpSpPr>
        <p:pic>
          <p:nvPicPr>
            <p:cNvPr id="5" name="Picture 4" descr="SIMATS ENGINEERING —Profile">
              <a:extLst>
                <a:ext uri="{FF2B5EF4-FFF2-40B4-BE49-F238E27FC236}">
                  <a16:creationId xmlns:a16="http://schemas.microsoft.com/office/drawing/2014/main" id="{A4942435-F093-A919-D181-759FA778CC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ENGINEERING —Profile">
              <a:extLst>
                <a:ext uri="{FF2B5EF4-FFF2-40B4-BE49-F238E27FC236}">
                  <a16:creationId xmlns:a16="http://schemas.microsoft.com/office/drawing/2014/main" id="{B60C07B8-70EF-AC5C-129E-11A169BBF0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itle 1">
            <a:extLst>
              <a:ext uri="{FF2B5EF4-FFF2-40B4-BE49-F238E27FC236}">
                <a16:creationId xmlns:a16="http://schemas.microsoft.com/office/drawing/2014/main" id="{903A9851-5615-374D-741A-001DD32468A9}"/>
              </a:ext>
            </a:extLst>
          </p:cNvPr>
          <p:cNvSpPr txBox="1">
            <a:spLocks/>
          </p:cNvSpPr>
          <p:nvPr/>
        </p:nvSpPr>
        <p:spPr>
          <a:xfrm>
            <a:off x="701749" y="0"/>
            <a:ext cx="10515600" cy="4948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latin typeface="Times New Roman" panose="02020603050405020304" pitchFamily="18" charset="0"/>
                <a:cs typeface="Times New Roman" panose="02020603050405020304" pitchFamily="18" charset="0"/>
              </a:rPr>
              <a:t>System Design / Architecture</a:t>
            </a:r>
            <a:endParaRPr lang="en-IN" sz="3600" b="1"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70723419-3ECB-AF96-68DB-8E7F3677612E}"/>
              </a:ext>
            </a:extLst>
          </p:cNvPr>
          <p:cNvSpPr/>
          <p:nvPr/>
        </p:nvSpPr>
        <p:spPr>
          <a:xfrm>
            <a:off x="469671" y="1255266"/>
            <a:ext cx="3731310" cy="111275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Times New Roman" panose="02020603050405020304" pitchFamily="18" charset="0"/>
                <a:cs typeface="Times New Roman" panose="02020603050405020304" pitchFamily="18" charset="0"/>
              </a:rPr>
              <a:t>1️⃣ </a:t>
            </a:r>
            <a:r>
              <a:rPr lang="en-IN" sz="1400" b="1" dirty="0">
                <a:solidFill>
                  <a:schemeClr val="tx1"/>
                </a:solidFill>
                <a:latin typeface="Times New Roman" panose="02020603050405020304" pitchFamily="18" charset="0"/>
                <a:cs typeface="Times New Roman" panose="02020603050405020304" pitchFamily="18" charset="0"/>
              </a:rPr>
              <a:t>Data Acquisition</a:t>
            </a:r>
          </a:p>
          <a:p>
            <a:pPr marL="285750" indent="-285750">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Collect data from Weather APIs, IoT sensors, CCTV, and citizen reports.</a:t>
            </a:r>
          </a:p>
          <a:p>
            <a:pPr marL="285750" indent="-285750">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Gather real-time traffic, location, and environmental information.</a:t>
            </a:r>
          </a:p>
        </p:txBody>
      </p:sp>
      <p:sp>
        <p:nvSpPr>
          <p:cNvPr id="9" name="Rectangle 8">
            <a:extLst>
              <a:ext uri="{FF2B5EF4-FFF2-40B4-BE49-F238E27FC236}">
                <a16:creationId xmlns:a16="http://schemas.microsoft.com/office/drawing/2014/main" id="{9253F04C-82A7-CB87-3C70-DB9BE4569646}"/>
              </a:ext>
            </a:extLst>
          </p:cNvPr>
          <p:cNvSpPr/>
          <p:nvPr/>
        </p:nvSpPr>
        <p:spPr>
          <a:xfrm>
            <a:off x="469671" y="2671901"/>
            <a:ext cx="3731310" cy="103718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Times New Roman" panose="02020603050405020304" pitchFamily="18" charset="0"/>
                <a:cs typeface="Times New Roman" panose="02020603050405020304" pitchFamily="18" charset="0"/>
              </a:rPr>
              <a:t>2️⃣ </a:t>
            </a:r>
            <a:r>
              <a:rPr lang="en-IN" sz="1400" b="1" dirty="0">
                <a:solidFill>
                  <a:schemeClr val="tx1"/>
                </a:solidFill>
                <a:latin typeface="Times New Roman" panose="02020603050405020304" pitchFamily="18" charset="0"/>
                <a:cs typeface="Times New Roman" panose="02020603050405020304" pitchFamily="18" charset="0"/>
              </a:rPr>
              <a:t>Data Processing</a:t>
            </a:r>
          </a:p>
          <a:p>
            <a:pPr marL="285750" indent="-285750">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Clean, validate, and integrate data from multiple sources.</a:t>
            </a:r>
          </a:p>
          <a:p>
            <a:pPr marL="285750" indent="-285750">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Prepare data for AI-based analysis and prediction.</a:t>
            </a:r>
          </a:p>
        </p:txBody>
      </p:sp>
      <p:sp>
        <p:nvSpPr>
          <p:cNvPr id="10" name="Rectangle 9">
            <a:extLst>
              <a:ext uri="{FF2B5EF4-FFF2-40B4-BE49-F238E27FC236}">
                <a16:creationId xmlns:a16="http://schemas.microsoft.com/office/drawing/2014/main" id="{A06F0E9B-25C7-6EB1-2E97-02A453290E08}"/>
              </a:ext>
            </a:extLst>
          </p:cNvPr>
          <p:cNvSpPr/>
          <p:nvPr/>
        </p:nvSpPr>
        <p:spPr>
          <a:xfrm>
            <a:off x="469670" y="4059707"/>
            <a:ext cx="3731311" cy="142396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Times New Roman" panose="02020603050405020304" pitchFamily="18" charset="0"/>
                <a:cs typeface="Times New Roman" panose="02020603050405020304" pitchFamily="18" charset="0"/>
              </a:rPr>
              <a:t>3️⃣ </a:t>
            </a:r>
            <a:r>
              <a:rPr lang="en-IN" sz="1400" b="1" dirty="0">
                <a:solidFill>
                  <a:schemeClr val="tx1"/>
                </a:solidFill>
                <a:latin typeface="Times New Roman" panose="02020603050405020304" pitchFamily="18" charset="0"/>
                <a:cs typeface="Times New Roman" panose="02020603050405020304" pitchFamily="18" charset="0"/>
              </a:rPr>
              <a:t>3. AI Disaster Detection</a:t>
            </a:r>
          </a:p>
          <a:p>
            <a:pPr marL="285750" indent="-285750">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Detect floods, fires, road blockages, and other emergencies. </a:t>
            </a:r>
          </a:p>
          <a:p>
            <a:pPr marL="285750" indent="-285750">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Assess disaster severity using AI and Computer Vision.</a:t>
            </a:r>
          </a:p>
        </p:txBody>
      </p:sp>
      <p:sp>
        <p:nvSpPr>
          <p:cNvPr id="11" name="Rectangle 10">
            <a:extLst>
              <a:ext uri="{FF2B5EF4-FFF2-40B4-BE49-F238E27FC236}">
                <a16:creationId xmlns:a16="http://schemas.microsoft.com/office/drawing/2014/main" id="{FFD062E7-30A6-D7A9-5DA1-4035E60D2C42}"/>
              </a:ext>
            </a:extLst>
          </p:cNvPr>
          <p:cNvSpPr/>
          <p:nvPr/>
        </p:nvSpPr>
        <p:spPr>
          <a:xfrm>
            <a:off x="469670" y="5787557"/>
            <a:ext cx="3859058" cy="10348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Times New Roman" panose="02020603050405020304" pitchFamily="18" charset="0"/>
                <a:cs typeface="Times New Roman" panose="02020603050405020304" pitchFamily="18" charset="0"/>
              </a:rPr>
              <a:t>4️⃣ </a:t>
            </a:r>
            <a:r>
              <a:rPr lang="en-IN" sz="1400" b="1" dirty="0">
                <a:solidFill>
                  <a:schemeClr val="tx1"/>
                </a:solidFill>
                <a:latin typeface="Times New Roman" panose="02020603050405020304" pitchFamily="18" charset="0"/>
                <a:cs typeface="Times New Roman" panose="02020603050405020304" pitchFamily="18" charset="0"/>
              </a:rPr>
              <a:t>Intelligent Decision Engine</a:t>
            </a:r>
          </a:p>
          <a:p>
            <a:pPr marL="285750" indent="-285750">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Prioritize incidents based on severity.</a:t>
            </a:r>
          </a:p>
          <a:p>
            <a:pPr marL="285750" indent="-285750">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Assign nearest emergency resources and optimize routes using A* Search.</a:t>
            </a:r>
          </a:p>
        </p:txBody>
      </p:sp>
      <p:sp>
        <p:nvSpPr>
          <p:cNvPr id="12" name="Rectangle 11">
            <a:extLst>
              <a:ext uri="{FF2B5EF4-FFF2-40B4-BE49-F238E27FC236}">
                <a16:creationId xmlns:a16="http://schemas.microsoft.com/office/drawing/2014/main" id="{D482ED5F-81A4-D7AD-EE58-A1AFE5373658}"/>
              </a:ext>
            </a:extLst>
          </p:cNvPr>
          <p:cNvSpPr/>
          <p:nvPr/>
        </p:nvSpPr>
        <p:spPr>
          <a:xfrm>
            <a:off x="4755189" y="5668426"/>
            <a:ext cx="4330868" cy="115393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Times New Roman" panose="02020603050405020304" pitchFamily="18" charset="0"/>
                <a:cs typeface="Times New Roman" panose="02020603050405020304" pitchFamily="18" charset="0"/>
              </a:rPr>
              <a:t>5️⃣ Emergency Response</a:t>
            </a:r>
          </a:p>
          <a:p>
            <a:pPr marL="285750" indent="-285750">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Notify traffic police, fire, ambulance, hospitals, and shelters.</a:t>
            </a:r>
          </a:p>
          <a:p>
            <a:pPr marL="285750" indent="-285750">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Apply escalation if officers do not respond within the time limit.</a:t>
            </a:r>
          </a:p>
        </p:txBody>
      </p:sp>
      <p:sp>
        <p:nvSpPr>
          <p:cNvPr id="13" name="Rectangle 12">
            <a:extLst>
              <a:ext uri="{FF2B5EF4-FFF2-40B4-BE49-F238E27FC236}">
                <a16:creationId xmlns:a16="http://schemas.microsoft.com/office/drawing/2014/main" id="{14B54BF8-86AB-A730-8667-D9712A9C5DA2}"/>
              </a:ext>
            </a:extLst>
          </p:cNvPr>
          <p:cNvSpPr/>
          <p:nvPr/>
        </p:nvSpPr>
        <p:spPr>
          <a:xfrm>
            <a:off x="4704129" y="4035986"/>
            <a:ext cx="4330869" cy="115393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Times New Roman" panose="02020603050405020304" pitchFamily="18" charset="0"/>
                <a:cs typeface="Times New Roman" panose="02020603050405020304" pitchFamily="18" charset="0"/>
              </a:rPr>
              <a:t>6️⃣ Monitoring &amp; Analysis</a:t>
            </a:r>
          </a:p>
          <a:p>
            <a:pPr marL="285750" indent="-285750">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Update the Digital Twin dashboard with live incident status.</a:t>
            </a:r>
          </a:p>
          <a:p>
            <a:pPr marL="285750" indent="-285750">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Enable citizen tracking, officer monitoring, and analytics.</a:t>
            </a:r>
          </a:p>
        </p:txBody>
      </p:sp>
      <p:sp>
        <p:nvSpPr>
          <p:cNvPr id="18" name="TextBox 17">
            <a:extLst>
              <a:ext uri="{FF2B5EF4-FFF2-40B4-BE49-F238E27FC236}">
                <a16:creationId xmlns:a16="http://schemas.microsoft.com/office/drawing/2014/main" id="{D93E3F56-2D84-AF61-7507-C49637ED6A77}"/>
              </a:ext>
            </a:extLst>
          </p:cNvPr>
          <p:cNvSpPr txBox="1"/>
          <p:nvPr/>
        </p:nvSpPr>
        <p:spPr>
          <a:xfrm>
            <a:off x="1880865" y="2349306"/>
            <a:ext cx="6096946" cy="369332"/>
          </a:xfrm>
          <a:prstGeom prst="rect">
            <a:avLst/>
          </a:prstGeom>
          <a:noFill/>
        </p:spPr>
        <p:txBody>
          <a:bodyPr wrap="square">
            <a:spAutoFit/>
          </a:bodyPr>
          <a:lstStyle/>
          <a:p>
            <a:r>
              <a:rPr lang="en-IN"/>
              <a:t>⬇️</a:t>
            </a:r>
          </a:p>
        </p:txBody>
      </p:sp>
      <p:sp>
        <p:nvSpPr>
          <p:cNvPr id="20" name="TextBox 19">
            <a:extLst>
              <a:ext uri="{FF2B5EF4-FFF2-40B4-BE49-F238E27FC236}">
                <a16:creationId xmlns:a16="http://schemas.microsoft.com/office/drawing/2014/main" id="{BB3217D5-AF35-38FB-8D3B-E825BA1AA920}"/>
              </a:ext>
            </a:extLst>
          </p:cNvPr>
          <p:cNvSpPr txBox="1"/>
          <p:nvPr/>
        </p:nvSpPr>
        <p:spPr>
          <a:xfrm>
            <a:off x="1894075" y="3721402"/>
            <a:ext cx="6096946" cy="369332"/>
          </a:xfrm>
          <a:prstGeom prst="rect">
            <a:avLst/>
          </a:prstGeom>
          <a:noFill/>
        </p:spPr>
        <p:txBody>
          <a:bodyPr wrap="square">
            <a:spAutoFit/>
          </a:bodyPr>
          <a:lstStyle/>
          <a:p>
            <a:r>
              <a:rPr lang="en-IN" dirty="0"/>
              <a:t>⬇️</a:t>
            </a:r>
          </a:p>
        </p:txBody>
      </p:sp>
      <p:sp>
        <p:nvSpPr>
          <p:cNvPr id="22" name="TextBox 21">
            <a:extLst>
              <a:ext uri="{FF2B5EF4-FFF2-40B4-BE49-F238E27FC236}">
                <a16:creationId xmlns:a16="http://schemas.microsoft.com/office/drawing/2014/main" id="{3181515F-B5DD-6820-B724-B49BD79ECD76}"/>
              </a:ext>
            </a:extLst>
          </p:cNvPr>
          <p:cNvSpPr txBox="1"/>
          <p:nvPr/>
        </p:nvSpPr>
        <p:spPr>
          <a:xfrm>
            <a:off x="1880865" y="5458464"/>
            <a:ext cx="6096946" cy="369332"/>
          </a:xfrm>
          <a:prstGeom prst="rect">
            <a:avLst/>
          </a:prstGeom>
          <a:noFill/>
        </p:spPr>
        <p:txBody>
          <a:bodyPr wrap="square">
            <a:spAutoFit/>
          </a:bodyPr>
          <a:lstStyle/>
          <a:p>
            <a:r>
              <a:rPr lang="en-IN" dirty="0"/>
              <a:t>⬇️</a:t>
            </a:r>
          </a:p>
        </p:txBody>
      </p:sp>
      <p:sp>
        <p:nvSpPr>
          <p:cNvPr id="24" name="TextBox 23">
            <a:extLst>
              <a:ext uri="{FF2B5EF4-FFF2-40B4-BE49-F238E27FC236}">
                <a16:creationId xmlns:a16="http://schemas.microsoft.com/office/drawing/2014/main" id="{0565F83B-48D3-07C5-2D29-3818D3B05067}"/>
              </a:ext>
            </a:extLst>
          </p:cNvPr>
          <p:cNvSpPr txBox="1"/>
          <p:nvPr/>
        </p:nvSpPr>
        <p:spPr>
          <a:xfrm rot="16200000">
            <a:off x="932231" y="2723283"/>
            <a:ext cx="7225748" cy="369332"/>
          </a:xfrm>
          <a:prstGeom prst="rect">
            <a:avLst/>
          </a:prstGeom>
          <a:noFill/>
        </p:spPr>
        <p:txBody>
          <a:bodyPr wrap="square">
            <a:spAutoFit/>
          </a:bodyPr>
          <a:lstStyle/>
          <a:p>
            <a:r>
              <a:rPr lang="en-IN"/>
              <a:t>⬇️</a:t>
            </a:r>
          </a:p>
        </p:txBody>
      </p:sp>
      <p:sp>
        <p:nvSpPr>
          <p:cNvPr id="26" name="TextBox 25">
            <a:extLst>
              <a:ext uri="{FF2B5EF4-FFF2-40B4-BE49-F238E27FC236}">
                <a16:creationId xmlns:a16="http://schemas.microsoft.com/office/drawing/2014/main" id="{2E6393A1-9A0C-249D-6410-6A2C59A67FCC}"/>
              </a:ext>
            </a:extLst>
          </p:cNvPr>
          <p:cNvSpPr txBox="1"/>
          <p:nvPr/>
        </p:nvSpPr>
        <p:spPr>
          <a:xfrm rot="10800000">
            <a:off x="823677" y="5244509"/>
            <a:ext cx="6096946" cy="369332"/>
          </a:xfrm>
          <a:prstGeom prst="rect">
            <a:avLst/>
          </a:prstGeom>
          <a:noFill/>
        </p:spPr>
        <p:txBody>
          <a:bodyPr wrap="square">
            <a:spAutoFit/>
          </a:bodyPr>
          <a:lstStyle/>
          <a:p>
            <a:r>
              <a:rPr lang="en-IN" dirty="0"/>
              <a:t>⬇️</a:t>
            </a:r>
          </a:p>
        </p:txBody>
      </p:sp>
      <p:pic>
        <p:nvPicPr>
          <p:cNvPr id="3" name="Picture 2">
            <a:extLst>
              <a:ext uri="{FF2B5EF4-FFF2-40B4-BE49-F238E27FC236}">
                <a16:creationId xmlns:a16="http://schemas.microsoft.com/office/drawing/2014/main" id="{B759299C-94FB-7BBE-F69B-431AFF47D0A8}"/>
              </a:ext>
            </a:extLst>
          </p:cNvPr>
          <p:cNvPicPr>
            <a:picLocks noChangeAspect="1"/>
          </p:cNvPicPr>
          <p:nvPr/>
        </p:nvPicPr>
        <p:blipFill>
          <a:blip r:embed="rId3"/>
          <a:srcRect r="10089" b="5971"/>
          <a:stretch>
            <a:fillRect/>
          </a:stretch>
        </p:blipFill>
        <p:spPr>
          <a:xfrm>
            <a:off x="4587665" y="909430"/>
            <a:ext cx="4447333" cy="2598018"/>
          </a:xfrm>
          <a:prstGeom prst="rect">
            <a:avLst/>
          </a:prstGeom>
        </p:spPr>
      </p:pic>
      <p:pic>
        <p:nvPicPr>
          <p:cNvPr id="16" name="Picture 15">
            <a:extLst>
              <a:ext uri="{FF2B5EF4-FFF2-40B4-BE49-F238E27FC236}">
                <a16:creationId xmlns:a16="http://schemas.microsoft.com/office/drawing/2014/main" id="{F52333D3-7413-7A44-04A8-A18C31D0AF48}"/>
              </a:ext>
            </a:extLst>
          </p:cNvPr>
          <p:cNvPicPr>
            <a:picLocks noChangeAspect="1"/>
          </p:cNvPicPr>
          <p:nvPr/>
        </p:nvPicPr>
        <p:blipFill>
          <a:blip r:embed="rId4"/>
          <a:srcRect t="5555"/>
          <a:stretch>
            <a:fillRect/>
          </a:stretch>
        </p:blipFill>
        <p:spPr>
          <a:xfrm>
            <a:off x="9111474" y="1199771"/>
            <a:ext cx="3080525" cy="5514822"/>
          </a:xfrm>
          <a:prstGeom prst="rect">
            <a:avLst/>
          </a:prstGeom>
        </p:spPr>
      </p:pic>
    </p:spTree>
    <p:extLst>
      <p:ext uri="{BB962C8B-B14F-4D97-AF65-F5344CB8AC3E}">
        <p14:creationId xmlns:p14="http://schemas.microsoft.com/office/powerpoint/2010/main" val="3510740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7F19E-452A-63C1-78EB-82FA3BBD8570}"/>
              </a:ext>
            </a:extLst>
          </p:cNvPr>
          <p:cNvSpPr>
            <a:spLocks noGrp="1"/>
          </p:cNvSpPr>
          <p:nvPr>
            <p:ph type="title"/>
          </p:nvPr>
        </p:nvSpPr>
        <p:spPr>
          <a:xfrm>
            <a:off x="887185" y="0"/>
            <a:ext cx="10515600" cy="489404"/>
          </a:xfrm>
        </p:spPr>
        <p:txBody>
          <a:bodyPr>
            <a:normAutofit fontScale="90000"/>
          </a:bodyPr>
          <a:lstStyle/>
          <a:p>
            <a:pPr algn="ctr"/>
            <a:r>
              <a:rPr lang="en-IN" sz="3600" b="1" dirty="0">
                <a:latin typeface="Times New Roman" panose="02020603050405020304" pitchFamily="18" charset="0"/>
                <a:cs typeface="Times New Roman" panose="02020603050405020304" pitchFamily="18" charset="0"/>
              </a:rPr>
              <a:t>Hardware Components Used</a:t>
            </a:r>
          </a:p>
        </p:txBody>
      </p:sp>
      <p:graphicFrame>
        <p:nvGraphicFramePr>
          <p:cNvPr id="4" name="Table 3">
            <a:extLst>
              <a:ext uri="{FF2B5EF4-FFF2-40B4-BE49-F238E27FC236}">
                <a16:creationId xmlns:a16="http://schemas.microsoft.com/office/drawing/2014/main" id="{7A7CA56E-EE47-3D97-54D0-223C5D6A92D2}"/>
              </a:ext>
            </a:extLst>
          </p:cNvPr>
          <p:cNvGraphicFramePr>
            <a:graphicFrameLocks noGrp="1"/>
          </p:cNvGraphicFramePr>
          <p:nvPr>
            <p:extLst>
              <p:ext uri="{D42A27DB-BD31-4B8C-83A1-F6EECF244321}">
                <p14:modId xmlns:p14="http://schemas.microsoft.com/office/powerpoint/2010/main" val="1170277870"/>
              </p:ext>
            </p:extLst>
          </p:nvPr>
        </p:nvGraphicFramePr>
        <p:xfrm>
          <a:off x="153761" y="1226398"/>
          <a:ext cx="6611710" cy="5379894"/>
        </p:xfrm>
        <a:graphic>
          <a:graphicData uri="http://schemas.openxmlformats.org/drawingml/2006/table">
            <a:tbl>
              <a:tblPr>
                <a:tableStyleId>{5940675A-B579-460E-94D1-54222C63F5DA}</a:tableStyleId>
              </a:tblPr>
              <a:tblGrid>
                <a:gridCol w="3305855">
                  <a:extLst>
                    <a:ext uri="{9D8B030D-6E8A-4147-A177-3AD203B41FA5}">
                      <a16:colId xmlns:a16="http://schemas.microsoft.com/office/drawing/2014/main" val="1842043591"/>
                    </a:ext>
                  </a:extLst>
                </a:gridCol>
                <a:gridCol w="3305855">
                  <a:extLst>
                    <a:ext uri="{9D8B030D-6E8A-4147-A177-3AD203B41FA5}">
                      <a16:colId xmlns:a16="http://schemas.microsoft.com/office/drawing/2014/main" val="3804584946"/>
                    </a:ext>
                  </a:extLst>
                </a:gridCol>
              </a:tblGrid>
              <a:tr h="348506">
                <a:tc>
                  <a:txBody>
                    <a:bodyPr/>
                    <a:lstStyle/>
                    <a:p>
                      <a:pPr>
                        <a:buNone/>
                      </a:pPr>
                      <a:r>
                        <a:rPr lang="en-IN" sz="1600" b="1" dirty="0">
                          <a:latin typeface="Times New Roman" panose="02020603050405020304" pitchFamily="18" charset="0"/>
                          <a:cs typeface="Times New Roman" panose="02020603050405020304" pitchFamily="18" charset="0"/>
                        </a:rPr>
                        <a:t>Component</a:t>
                      </a:r>
                    </a:p>
                  </a:txBody>
                  <a:tcPr marL="85320" marR="85320" marT="42660" marB="42660" anchor="ctr">
                    <a:solidFill>
                      <a:schemeClr val="accent2">
                        <a:lumMod val="20000"/>
                        <a:lumOff val="80000"/>
                      </a:schemeClr>
                    </a:solidFill>
                  </a:tcPr>
                </a:tc>
                <a:tc>
                  <a:txBody>
                    <a:bodyPr/>
                    <a:lstStyle/>
                    <a:p>
                      <a:pPr>
                        <a:buNone/>
                      </a:pPr>
                      <a:r>
                        <a:rPr lang="en-IN" sz="1600" b="1" dirty="0">
                          <a:latin typeface="Times New Roman" panose="02020603050405020304" pitchFamily="18" charset="0"/>
                          <a:cs typeface="Times New Roman" panose="02020603050405020304" pitchFamily="18" charset="0"/>
                        </a:rPr>
                        <a:t>Purpose</a:t>
                      </a:r>
                    </a:p>
                  </a:txBody>
                  <a:tcPr marL="85320" marR="85320" marT="42660" marB="42660" anchor="ctr">
                    <a:solidFill>
                      <a:schemeClr val="accent2">
                        <a:lumMod val="20000"/>
                        <a:lumOff val="80000"/>
                      </a:schemeClr>
                    </a:solidFill>
                  </a:tcPr>
                </a:tc>
                <a:extLst>
                  <a:ext uri="{0D108BD9-81ED-4DB2-BD59-A6C34878D82A}">
                    <a16:rowId xmlns:a16="http://schemas.microsoft.com/office/drawing/2014/main" val="162737973"/>
                  </a:ext>
                </a:extLst>
              </a:tr>
              <a:tr h="610676">
                <a:tc>
                  <a:txBody>
                    <a:bodyPr/>
                    <a:lstStyle/>
                    <a:p>
                      <a:pPr>
                        <a:buNone/>
                      </a:pPr>
                      <a:r>
                        <a:rPr lang="en-IN" sz="1600" b="1" dirty="0">
                          <a:latin typeface="Times New Roman" panose="02020603050405020304" pitchFamily="18" charset="0"/>
                          <a:cs typeface="Times New Roman" panose="02020603050405020304" pitchFamily="18" charset="0"/>
                        </a:rPr>
                        <a:t>ESP32 Development Board</a:t>
                      </a:r>
                      <a:endParaRPr lang="en-IN" sz="1600" dirty="0">
                        <a:latin typeface="Times New Roman" panose="02020603050405020304" pitchFamily="18" charset="0"/>
                        <a:cs typeface="Times New Roman" panose="02020603050405020304" pitchFamily="18" charset="0"/>
                      </a:endParaRPr>
                    </a:p>
                  </a:txBody>
                  <a:tcPr marL="85320" marR="85320" marT="42660" marB="42660" anchor="ctr"/>
                </a:tc>
                <a:tc>
                  <a:txBody>
                    <a:bodyPr/>
                    <a:lstStyle/>
                    <a:p>
                      <a:pPr>
                        <a:buNone/>
                      </a:pPr>
                      <a:r>
                        <a:rPr lang="en-IN" sz="1600" dirty="0">
                          <a:latin typeface="Times New Roman" panose="02020603050405020304" pitchFamily="18" charset="0"/>
                          <a:cs typeface="Times New Roman" panose="02020603050405020304" pitchFamily="18" charset="0"/>
                        </a:rPr>
                        <a:t>Main IoT controller; collects sensor data and sends it to Django via Wi-Fi</a:t>
                      </a:r>
                    </a:p>
                  </a:txBody>
                  <a:tcPr marL="85320" marR="85320" marT="42660" marB="42660" anchor="ctr"/>
                </a:tc>
                <a:extLst>
                  <a:ext uri="{0D108BD9-81ED-4DB2-BD59-A6C34878D82A}">
                    <a16:rowId xmlns:a16="http://schemas.microsoft.com/office/drawing/2014/main" val="2556547954"/>
                  </a:ext>
                </a:extLst>
              </a:tr>
              <a:tr h="348506">
                <a:tc>
                  <a:txBody>
                    <a:bodyPr/>
                    <a:lstStyle/>
                    <a:p>
                      <a:pPr>
                        <a:buNone/>
                      </a:pPr>
                      <a:r>
                        <a:rPr lang="en-IN" sz="1600" b="1">
                          <a:latin typeface="Times New Roman" panose="02020603050405020304" pitchFamily="18" charset="0"/>
                          <a:cs typeface="Times New Roman" panose="02020603050405020304" pitchFamily="18" charset="0"/>
                        </a:rPr>
                        <a:t>DHT11 Sensor</a:t>
                      </a:r>
                      <a:endParaRPr lang="en-IN" sz="1600">
                        <a:latin typeface="Times New Roman" panose="02020603050405020304" pitchFamily="18" charset="0"/>
                        <a:cs typeface="Times New Roman" panose="02020603050405020304" pitchFamily="18" charset="0"/>
                      </a:endParaRPr>
                    </a:p>
                  </a:txBody>
                  <a:tcPr marL="85320" marR="85320" marT="42660" marB="42660" anchor="ctr"/>
                </a:tc>
                <a:tc>
                  <a:txBody>
                    <a:bodyPr/>
                    <a:lstStyle/>
                    <a:p>
                      <a:pPr>
                        <a:buNone/>
                      </a:pPr>
                      <a:r>
                        <a:rPr lang="en-IN" sz="1600">
                          <a:latin typeface="Times New Roman" panose="02020603050405020304" pitchFamily="18" charset="0"/>
                          <a:cs typeface="Times New Roman" panose="02020603050405020304" pitchFamily="18" charset="0"/>
                        </a:rPr>
                        <a:t>Measures temperature and humidity</a:t>
                      </a:r>
                    </a:p>
                  </a:txBody>
                  <a:tcPr marL="85320" marR="85320" marT="42660" marB="42660" anchor="ctr"/>
                </a:tc>
                <a:extLst>
                  <a:ext uri="{0D108BD9-81ED-4DB2-BD59-A6C34878D82A}">
                    <a16:rowId xmlns:a16="http://schemas.microsoft.com/office/drawing/2014/main" val="3425623084"/>
                  </a:ext>
                </a:extLst>
              </a:tr>
              <a:tr h="348506">
                <a:tc>
                  <a:txBody>
                    <a:bodyPr/>
                    <a:lstStyle/>
                    <a:p>
                      <a:pPr>
                        <a:buNone/>
                      </a:pPr>
                      <a:r>
                        <a:rPr lang="en-IN" sz="1600" b="1">
                          <a:latin typeface="Times New Roman" panose="02020603050405020304" pitchFamily="18" charset="0"/>
                          <a:cs typeface="Times New Roman" panose="02020603050405020304" pitchFamily="18" charset="0"/>
                        </a:rPr>
                        <a:t>Rain Sensor</a:t>
                      </a:r>
                      <a:endParaRPr lang="en-IN" sz="1600">
                        <a:latin typeface="Times New Roman" panose="02020603050405020304" pitchFamily="18" charset="0"/>
                        <a:cs typeface="Times New Roman" panose="02020603050405020304" pitchFamily="18" charset="0"/>
                      </a:endParaRPr>
                    </a:p>
                  </a:txBody>
                  <a:tcPr marL="85320" marR="85320" marT="42660" marB="42660" anchor="ctr"/>
                </a:tc>
                <a:tc>
                  <a:txBody>
                    <a:bodyPr/>
                    <a:lstStyle/>
                    <a:p>
                      <a:pPr>
                        <a:buNone/>
                      </a:pPr>
                      <a:r>
                        <a:rPr lang="en-IN" sz="1600">
                          <a:latin typeface="Times New Roman" panose="02020603050405020304" pitchFamily="18" charset="0"/>
                          <a:cs typeface="Times New Roman" panose="02020603050405020304" pitchFamily="18" charset="0"/>
                        </a:rPr>
                        <a:t>Detects rainfall / moisture conditions</a:t>
                      </a:r>
                    </a:p>
                  </a:txBody>
                  <a:tcPr marL="85320" marR="85320" marT="42660" marB="42660" anchor="ctr"/>
                </a:tc>
                <a:extLst>
                  <a:ext uri="{0D108BD9-81ED-4DB2-BD59-A6C34878D82A}">
                    <a16:rowId xmlns:a16="http://schemas.microsoft.com/office/drawing/2014/main" val="2941152072"/>
                  </a:ext>
                </a:extLst>
              </a:tr>
              <a:tr h="524920">
                <a:tc>
                  <a:txBody>
                    <a:bodyPr/>
                    <a:lstStyle/>
                    <a:p>
                      <a:pPr>
                        <a:buNone/>
                      </a:pPr>
                      <a:r>
                        <a:rPr lang="en-IN" sz="1600" b="1">
                          <a:latin typeface="Times New Roman" panose="02020603050405020304" pitchFamily="18" charset="0"/>
                          <a:cs typeface="Times New Roman" panose="02020603050405020304" pitchFamily="18" charset="0"/>
                        </a:rPr>
                        <a:t>Water Level Sensor</a:t>
                      </a:r>
                      <a:endParaRPr lang="en-IN" sz="1600">
                        <a:latin typeface="Times New Roman" panose="02020603050405020304" pitchFamily="18" charset="0"/>
                        <a:cs typeface="Times New Roman" panose="02020603050405020304" pitchFamily="18" charset="0"/>
                      </a:endParaRPr>
                    </a:p>
                  </a:txBody>
                  <a:tcPr marL="85320" marR="85320" marT="42660" marB="42660" anchor="ctr"/>
                </a:tc>
                <a:tc>
                  <a:txBody>
                    <a:bodyPr/>
                    <a:lstStyle/>
                    <a:p>
                      <a:pPr>
                        <a:buNone/>
                      </a:pPr>
                      <a:r>
                        <a:rPr lang="en-IN" sz="1600">
                          <a:latin typeface="Times New Roman" panose="02020603050405020304" pitchFamily="18" charset="0"/>
                          <a:cs typeface="Times New Roman" panose="02020603050405020304" pitchFamily="18" charset="0"/>
                        </a:rPr>
                        <a:t>Monitors water level for flood-risk detection</a:t>
                      </a:r>
                    </a:p>
                  </a:txBody>
                  <a:tcPr marL="85320" marR="85320" marT="42660" marB="42660" anchor="ctr"/>
                </a:tc>
                <a:extLst>
                  <a:ext uri="{0D108BD9-81ED-4DB2-BD59-A6C34878D82A}">
                    <a16:rowId xmlns:a16="http://schemas.microsoft.com/office/drawing/2014/main" val="1828877314"/>
                  </a:ext>
                </a:extLst>
              </a:tr>
              <a:tr h="348506">
                <a:tc>
                  <a:txBody>
                    <a:bodyPr/>
                    <a:lstStyle/>
                    <a:p>
                      <a:pPr>
                        <a:buNone/>
                      </a:pPr>
                      <a:r>
                        <a:rPr lang="en-IN" sz="1600" b="1">
                          <a:latin typeface="Times New Roman" panose="02020603050405020304" pitchFamily="18" charset="0"/>
                          <a:cs typeface="Times New Roman" panose="02020603050405020304" pitchFamily="18" charset="0"/>
                        </a:rPr>
                        <a:t>Flame Sensor</a:t>
                      </a:r>
                      <a:endParaRPr lang="en-IN" sz="1600">
                        <a:latin typeface="Times New Roman" panose="02020603050405020304" pitchFamily="18" charset="0"/>
                        <a:cs typeface="Times New Roman" panose="02020603050405020304" pitchFamily="18" charset="0"/>
                      </a:endParaRPr>
                    </a:p>
                  </a:txBody>
                  <a:tcPr marL="85320" marR="85320" marT="42660" marB="42660" anchor="ctr"/>
                </a:tc>
                <a:tc>
                  <a:txBody>
                    <a:bodyPr/>
                    <a:lstStyle/>
                    <a:p>
                      <a:pPr>
                        <a:buNone/>
                      </a:pPr>
                      <a:r>
                        <a:rPr lang="en-IN" sz="1600" dirty="0">
                          <a:latin typeface="Times New Roman" panose="02020603050405020304" pitchFamily="18" charset="0"/>
                          <a:cs typeface="Times New Roman" panose="02020603050405020304" pitchFamily="18" charset="0"/>
                        </a:rPr>
                        <a:t>Detects flame/fire conditions</a:t>
                      </a:r>
                    </a:p>
                  </a:txBody>
                  <a:tcPr marL="85320" marR="85320" marT="42660" marB="42660" anchor="ctr"/>
                </a:tc>
                <a:extLst>
                  <a:ext uri="{0D108BD9-81ED-4DB2-BD59-A6C34878D82A}">
                    <a16:rowId xmlns:a16="http://schemas.microsoft.com/office/drawing/2014/main" val="4090889249"/>
                  </a:ext>
                </a:extLst>
              </a:tr>
              <a:tr h="348506">
                <a:tc>
                  <a:txBody>
                    <a:bodyPr/>
                    <a:lstStyle/>
                    <a:p>
                      <a:pPr>
                        <a:buNone/>
                      </a:pPr>
                      <a:r>
                        <a:rPr lang="en-IN" sz="1600" b="1">
                          <a:latin typeface="Times New Roman" panose="02020603050405020304" pitchFamily="18" charset="0"/>
                          <a:cs typeface="Times New Roman" panose="02020603050405020304" pitchFamily="18" charset="0"/>
                        </a:rPr>
                        <a:t>MQ-2 Gas Sensor</a:t>
                      </a:r>
                      <a:endParaRPr lang="en-IN" sz="1600">
                        <a:latin typeface="Times New Roman" panose="02020603050405020304" pitchFamily="18" charset="0"/>
                        <a:cs typeface="Times New Roman" panose="02020603050405020304" pitchFamily="18" charset="0"/>
                      </a:endParaRPr>
                    </a:p>
                  </a:txBody>
                  <a:tcPr marL="85320" marR="85320" marT="42660" marB="42660" anchor="ctr"/>
                </a:tc>
                <a:tc>
                  <a:txBody>
                    <a:bodyPr/>
                    <a:lstStyle/>
                    <a:p>
                      <a:pPr>
                        <a:buNone/>
                      </a:pPr>
                      <a:r>
                        <a:rPr lang="en-IN" sz="1600">
                          <a:latin typeface="Times New Roman" panose="02020603050405020304" pitchFamily="18" charset="0"/>
                          <a:cs typeface="Times New Roman" panose="02020603050405020304" pitchFamily="18" charset="0"/>
                        </a:rPr>
                        <a:t>Detects smoke and combustible gases</a:t>
                      </a:r>
                    </a:p>
                  </a:txBody>
                  <a:tcPr marL="85320" marR="85320" marT="42660" marB="42660" anchor="ctr"/>
                </a:tc>
                <a:extLst>
                  <a:ext uri="{0D108BD9-81ED-4DB2-BD59-A6C34878D82A}">
                    <a16:rowId xmlns:a16="http://schemas.microsoft.com/office/drawing/2014/main" val="3010738919"/>
                  </a:ext>
                </a:extLst>
              </a:tr>
              <a:tr h="348506">
                <a:tc>
                  <a:txBody>
                    <a:bodyPr/>
                    <a:lstStyle/>
                    <a:p>
                      <a:pPr>
                        <a:buNone/>
                      </a:pPr>
                      <a:r>
                        <a:rPr lang="en-IN" sz="1600" b="1">
                          <a:latin typeface="Times New Roman" panose="02020603050405020304" pitchFamily="18" charset="0"/>
                          <a:cs typeface="Times New Roman" panose="02020603050405020304" pitchFamily="18" charset="0"/>
                        </a:rPr>
                        <a:t>Buzzer</a:t>
                      </a:r>
                      <a:endParaRPr lang="en-IN" sz="1600">
                        <a:latin typeface="Times New Roman" panose="02020603050405020304" pitchFamily="18" charset="0"/>
                        <a:cs typeface="Times New Roman" panose="02020603050405020304" pitchFamily="18" charset="0"/>
                      </a:endParaRPr>
                    </a:p>
                  </a:txBody>
                  <a:tcPr marL="85320" marR="85320" marT="42660" marB="42660" anchor="ctr"/>
                </a:tc>
                <a:tc>
                  <a:txBody>
                    <a:bodyPr/>
                    <a:lstStyle/>
                    <a:p>
                      <a:pPr>
                        <a:buNone/>
                      </a:pPr>
                      <a:r>
                        <a:rPr lang="en-IN" sz="1600">
                          <a:latin typeface="Times New Roman" panose="02020603050405020304" pitchFamily="18" charset="0"/>
                          <a:cs typeface="Times New Roman" panose="02020603050405020304" pitchFamily="18" charset="0"/>
                        </a:rPr>
                        <a:t>Local emergency alert</a:t>
                      </a:r>
                    </a:p>
                  </a:txBody>
                  <a:tcPr marL="85320" marR="85320" marT="42660" marB="42660" anchor="ctr"/>
                </a:tc>
                <a:extLst>
                  <a:ext uri="{0D108BD9-81ED-4DB2-BD59-A6C34878D82A}">
                    <a16:rowId xmlns:a16="http://schemas.microsoft.com/office/drawing/2014/main" val="974718267"/>
                  </a:ext>
                </a:extLst>
              </a:tr>
              <a:tr h="348506">
                <a:tc>
                  <a:txBody>
                    <a:bodyPr/>
                    <a:lstStyle/>
                    <a:p>
                      <a:pPr>
                        <a:buNone/>
                      </a:pPr>
                      <a:r>
                        <a:rPr lang="en-IN" sz="1600" b="1">
                          <a:latin typeface="Times New Roman" panose="02020603050405020304" pitchFamily="18" charset="0"/>
                          <a:cs typeface="Times New Roman" panose="02020603050405020304" pitchFamily="18" charset="0"/>
                        </a:rPr>
                        <a:t>LED</a:t>
                      </a:r>
                      <a:endParaRPr lang="en-IN" sz="1600">
                        <a:latin typeface="Times New Roman" panose="02020603050405020304" pitchFamily="18" charset="0"/>
                        <a:cs typeface="Times New Roman" panose="02020603050405020304" pitchFamily="18" charset="0"/>
                      </a:endParaRPr>
                    </a:p>
                  </a:txBody>
                  <a:tcPr marL="85320" marR="85320" marT="42660" marB="42660" anchor="ctr"/>
                </a:tc>
                <a:tc>
                  <a:txBody>
                    <a:bodyPr/>
                    <a:lstStyle/>
                    <a:p>
                      <a:pPr>
                        <a:buNone/>
                      </a:pPr>
                      <a:r>
                        <a:rPr lang="en-IN" sz="1600">
                          <a:latin typeface="Times New Roman" panose="02020603050405020304" pitchFamily="18" charset="0"/>
                          <a:cs typeface="Times New Roman" panose="02020603050405020304" pitchFamily="18" charset="0"/>
                        </a:rPr>
                        <a:t>Visual status/alert indication</a:t>
                      </a:r>
                    </a:p>
                  </a:txBody>
                  <a:tcPr marL="85320" marR="85320" marT="42660" marB="42660" anchor="ctr"/>
                </a:tc>
                <a:extLst>
                  <a:ext uri="{0D108BD9-81ED-4DB2-BD59-A6C34878D82A}">
                    <a16:rowId xmlns:a16="http://schemas.microsoft.com/office/drawing/2014/main" val="418345347"/>
                  </a:ext>
                </a:extLst>
              </a:tr>
              <a:tr h="348506">
                <a:tc>
                  <a:txBody>
                    <a:bodyPr/>
                    <a:lstStyle/>
                    <a:p>
                      <a:pPr>
                        <a:buNone/>
                      </a:pPr>
                      <a:r>
                        <a:rPr lang="en-IN" sz="1600" b="1">
                          <a:latin typeface="Times New Roman" panose="02020603050405020304" pitchFamily="18" charset="0"/>
                          <a:cs typeface="Times New Roman" panose="02020603050405020304" pitchFamily="18" charset="0"/>
                        </a:rPr>
                        <a:t>Breadboard</a:t>
                      </a:r>
                      <a:endParaRPr lang="en-IN" sz="1600">
                        <a:latin typeface="Times New Roman" panose="02020603050405020304" pitchFamily="18" charset="0"/>
                        <a:cs typeface="Times New Roman" panose="02020603050405020304" pitchFamily="18" charset="0"/>
                      </a:endParaRPr>
                    </a:p>
                  </a:txBody>
                  <a:tcPr marL="85320" marR="85320" marT="42660" marB="42660" anchor="ctr"/>
                </a:tc>
                <a:tc>
                  <a:txBody>
                    <a:bodyPr/>
                    <a:lstStyle/>
                    <a:p>
                      <a:pPr>
                        <a:buNone/>
                      </a:pPr>
                      <a:r>
                        <a:rPr lang="en-IN" sz="1600">
                          <a:latin typeface="Times New Roman" panose="02020603050405020304" pitchFamily="18" charset="0"/>
                          <a:cs typeface="Times New Roman" panose="02020603050405020304" pitchFamily="18" charset="0"/>
                        </a:rPr>
                        <a:t>Prototyping and connecting components</a:t>
                      </a:r>
                    </a:p>
                  </a:txBody>
                  <a:tcPr marL="85320" marR="85320" marT="42660" marB="42660" anchor="ctr"/>
                </a:tc>
                <a:extLst>
                  <a:ext uri="{0D108BD9-81ED-4DB2-BD59-A6C34878D82A}">
                    <a16:rowId xmlns:a16="http://schemas.microsoft.com/office/drawing/2014/main" val="1812999468"/>
                  </a:ext>
                </a:extLst>
              </a:tr>
              <a:tr h="610676">
                <a:tc>
                  <a:txBody>
                    <a:bodyPr/>
                    <a:lstStyle/>
                    <a:p>
                      <a:pPr>
                        <a:buNone/>
                      </a:pPr>
                      <a:r>
                        <a:rPr lang="en-IN" sz="1600" b="1">
                          <a:latin typeface="Times New Roman" panose="02020603050405020304" pitchFamily="18" charset="0"/>
                          <a:cs typeface="Times New Roman" panose="02020603050405020304" pitchFamily="18" charset="0"/>
                        </a:rPr>
                        <a:t>Jumper Wires</a:t>
                      </a:r>
                      <a:endParaRPr lang="en-IN" sz="1600">
                        <a:latin typeface="Times New Roman" panose="02020603050405020304" pitchFamily="18" charset="0"/>
                        <a:cs typeface="Times New Roman" panose="02020603050405020304" pitchFamily="18" charset="0"/>
                      </a:endParaRPr>
                    </a:p>
                  </a:txBody>
                  <a:tcPr marL="85320" marR="85320" marT="42660" marB="42660" anchor="ctr"/>
                </a:tc>
                <a:tc>
                  <a:txBody>
                    <a:bodyPr/>
                    <a:lstStyle/>
                    <a:p>
                      <a:pPr>
                        <a:buNone/>
                      </a:pPr>
                      <a:r>
                        <a:rPr lang="en-IN" sz="1600" dirty="0">
                          <a:latin typeface="Times New Roman" panose="02020603050405020304" pitchFamily="18" charset="0"/>
                          <a:cs typeface="Times New Roman" panose="02020603050405020304" pitchFamily="18" charset="0"/>
                        </a:rPr>
                        <a:t>Electrical connections between ESP32 and sensors</a:t>
                      </a:r>
                    </a:p>
                  </a:txBody>
                  <a:tcPr marL="85320" marR="85320" marT="42660" marB="42660" anchor="ctr"/>
                </a:tc>
                <a:extLst>
                  <a:ext uri="{0D108BD9-81ED-4DB2-BD59-A6C34878D82A}">
                    <a16:rowId xmlns:a16="http://schemas.microsoft.com/office/drawing/2014/main" val="2466757395"/>
                  </a:ext>
                </a:extLst>
              </a:tr>
              <a:tr h="348506">
                <a:tc>
                  <a:txBody>
                    <a:bodyPr/>
                    <a:lstStyle/>
                    <a:p>
                      <a:pPr>
                        <a:buNone/>
                      </a:pPr>
                      <a:r>
                        <a:rPr lang="en-IN" sz="1600" b="1">
                          <a:latin typeface="Times New Roman" panose="02020603050405020304" pitchFamily="18" charset="0"/>
                          <a:cs typeface="Times New Roman" panose="02020603050405020304" pitchFamily="18" charset="0"/>
                        </a:rPr>
                        <a:t>USB Cable</a:t>
                      </a:r>
                      <a:endParaRPr lang="en-IN" sz="1600">
                        <a:latin typeface="Times New Roman" panose="02020603050405020304" pitchFamily="18" charset="0"/>
                        <a:cs typeface="Times New Roman" panose="02020603050405020304" pitchFamily="18" charset="0"/>
                      </a:endParaRPr>
                    </a:p>
                  </a:txBody>
                  <a:tcPr marL="85320" marR="85320" marT="42660" marB="42660" anchor="ctr"/>
                </a:tc>
                <a:tc>
                  <a:txBody>
                    <a:bodyPr/>
                    <a:lstStyle/>
                    <a:p>
                      <a:pPr>
                        <a:buNone/>
                      </a:pPr>
                      <a:r>
                        <a:rPr lang="en-IN" sz="1600" dirty="0">
                          <a:latin typeface="Times New Roman" panose="02020603050405020304" pitchFamily="18" charset="0"/>
                          <a:cs typeface="Times New Roman" panose="02020603050405020304" pitchFamily="18" charset="0"/>
                        </a:rPr>
                        <a:t>ESP32 programming and power supply</a:t>
                      </a:r>
                    </a:p>
                  </a:txBody>
                  <a:tcPr marL="85320" marR="85320" marT="42660" marB="42660" anchor="ctr"/>
                </a:tc>
                <a:extLst>
                  <a:ext uri="{0D108BD9-81ED-4DB2-BD59-A6C34878D82A}">
                    <a16:rowId xmlns:a16="http://schemas.microsoft.com/office/drawing/2014/main" val="3695528688"/>
                  </a:ext>
                </a:extLst>
              </a:tr>
            </a:tbl>
          </a:graphicData>
        </a:graphic>
      </p:graphicFrame>
      <p:grpSp>
        <p:nvGrpSpPr>
          <p:cNvPr id="7" name="Group 6">
            <a:extLst>
              <a:ext uri="{FF2B5EF4-FFF2-40B4-BE49-F238E27FC236}">
                <a16:creationId xmlns:a16="http://schemas.microsoft.com/office/drawing/2014/main" id="{0D764BED-A711-D8F4-8F07-2950C85A9E9F}"/>
              </a:ext>
            </a:extLst>
          </p:cNvPr>
          <p:cNvGrpSpPr/>
          <p:nvPr/>
        </p:nvGrpSpPr>
        <p:grpSpPr>
          <a:xfrm>
            <a:off x="153761" y="0"/>
            <a:ext cx="11884478" cy="1182704"/>
            <a:chOff x="153761" y="0"/>
            <a:chExt cx="11884478" cy="1182704"/>
          </a:xfrm>
        </p:grpSpPr>
        <p:pic>
          <p:nvPicPr>
            <p:cNvPr id="8" name="Picture 7" descr="SIMATS ENGINEERING —Profile">
              <a:extLst>
                <a:ext uri="{FF2B5EF4-FFF2-40B4-BE49-F238E27FC236}">
                  <a16:creationId xmlns:a16="http://schemas.microsoft.com/office/drawing/2014/main" id="{620DA25D-26DD-F436-C274-B7E084A2521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SIMATS ENGINEERING —Profile">
              <a:extLst>
                <a:ext uri="{FF2B5EF4-FFF2-40B4-BE49-F238E27FC236}">
                  <a16:creationId xmlns:a16="http://schemas.microsoft.com/office/drawing/2014/main" id="{FE98A975-90AE-6235-6486-761546E781A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pic>
        <p:nvPicPr>
          <p:cNvPr id="11" name="Picture 10">
            <a:extLst>
              <a:ext uri="{FF2B5EF4-FFF2-40B4-BE49-F238E27FC236}">
                <a16:creationId xmlns:a16="http://schemas.microsoft.com/office/drawing/2014/main" id="{C8B442AE-A192-4F13-1887-08757AE7F7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1068" y="1888671"/>
            <a:ext cx="5127171" cy="3418114"/>
          </a:xfrm>
          <a:prstGeom prst="rect">
            <a:avLst/>
          </a:prstGeom>
        </p:spPr>
      </p:pic>
    </p:spTree>
    <p:extLst>
      <p:ext uri="{BB962C8B-B14F-4D97-AF65-F5344CB8AC3E}">
        <p14:creationId xmlns:p14="http://schemas.microsoft.com/office/powerpoint/2010/main" val="1742653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007118-C5B6-6B74-7CF0-A10EE0A3AE8B}"/>
              </a:ext>
            </a:extLst>
          </p:cNvPr>
          <p:cNvSpPr/>
          <p:nvPr/>
        </p:nvSpPr>
        <p:spPr>
          <a:xfrm>
            <a:off x="109075" y="1624185"/>
            <a:ext cx="5781094" cy="51952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055AD9A-AECA-5026-7EA3-61B0DCB7CE4B}"/>
              </a:ext>
            </a:extLst>
          </p:cNvPr>
          <p:cNvSpPr>
            <a:spLocks noGrp="1"/>
          </p:cNvSpPr>
          <p:nvPr>
            <p:ph type="title"/>
          </p:nvPr>
        </p:nvSpPr>
        <p:spPr>
          <a:xfrm>
            <a:off x="941614" y="38555"/>
            <a:ext cx="10036629" cy="505732"/>
          </a:xfrm>
        </p:spPr>
        <p:txBody>
          <a:bodyPr>
            <a:noAutofit/>
          </a:bodyPr>
          <a:lstStyle/>
          <a:p>
            <a:pPr algn="ctr"/>
            <a:r>
              <a:rPr lang="en-US" sz="3600" b="1" dirty="0">
                <a:latin typeface="Times New Roman" pitchFamily="18" charset="0"/>
                <a:cs typeface="Times New Roman" pitchFamily="18" charset="0"/>
              </a:rPr>
              <a:t>Implementation</a:t>
            </a:r>
            <a:endParaRPr lang="en-IN" sz="3600" dirty="0"/>
          </a:p>
        </p:txBody>
      </p:sp>
      <p:sp>
        <p:nvSpPr>
          <p:cNvPr id="5" name="TextBox 4">
            <a:extLst>
              <a:ext uri="{FF2B5EF4-FFF2-40B4-BE49-F238E27FC236}">
                <a16:creationId xmlns:a16="http://schemas.microsoft.com/office/drawing/2014/main" id="{473835A2-FE59-C1E4-BED4-8ACB7893B65B}"/>
              </a:ext>
            </a:extLst>
          </p:cNvPr>
          <p:cNvSpPr txBox="1"/>
          <p:nvPr/>
        </p:nvSpPr>
        <p:spPr>
          <a:xfrm>
            <a:off x="59530" y="1200256"/>
            <a:ext cx="6096000" cy="369332"/>
          </a:xfrm>
          <a:prstGeom prst="rect">
            <a:avLst/>
          </a:prstGeom>
          <a:noFill/>
        </p:spPr>
        <p:txBody>
          <a:bodyPr wrap="square">
            <a:spAutoFit/>
          </a:bodyPr>
          <a:lstStyle/>
          <a:p>
            <a:r>
              <a:rPr lang="en-US" sz="1800" b="1" u="sng" dirty="0">
                <a:latin typeface="Times New Roman" panose="02020603050405020304" pitchFamily="18" charset="0"/>
                <a:cs typeface="Times New Roman" panose="02020603050405020304" pitchFamily="18" charset="0"/>
              </a:rPr>
              <a:t>Module 1: AI-Based Disaster Detection &amp; Prediction</a:t>
            </a:r>
            <a:endParaRPr lang="en-IN" sz="1800" b="1" u="sng" dirty="0">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379A6A4B-3AD2-1616-BB9A-F4C34977E732}"/>
              </a:ext>
            </a:extLst>
          </p:cNvPr>
          <p:cNvSpPr>
            <a:spLocks noGrp="1" noChangeArrowheads="1"/>
          </p:cNvSpPr>
          <p:nvPr>
            <p:ph idx="1"/>
          </p:nvPr>
        </p:nvSpPr>
        <p:spPr bwMode="auto">
          <a:xfrm>
            <a:off x="109075" y="1870506"/>
            <a:ext cx="5781093" cy="244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1400" dirty="0">
                <a:latin typeface="Times New Roman" panose="02020603050405020304" pitchFamily="18" charset="0"/>
                <a:cs typeface="Times New Roman" panose="02020603050405020304" pitchFamily="18" charset="0"/>
              </a:rPr>
              <a:t>This module collects real-time information from weather services, IoT sensors, CCTV cameras, satellite imagery, and citizen reports. Artificial Intelligence analyzes the incoming data to detect potential disasters such as floods, fires, road blockages, and hazardous situations.</a:t>
            </a:r>
          </a:p>
          <a:p>
            <a:pPr>
              <a:lnSpc>
                <a:spcPct val="150000"/>
              </a:lnSpc>
            </a:pPr>
            <a:r>
              <a:rPr lang="en-US" sz="1400" dirty="0">
                <a:latin typeface="Times New Roman" panose="02020603050405020304" pitchFamily="18" charset="0"/>
                <a:cs typeface="Times New Roman" panose="02020603050405020304" pitchFamily="18" charset="0"/>
              </a:rPr>
              <a:t>The system continuously predicts high-risk areas and generates early warning alerts. AI models identify disaster severity and update the Digital Twin city map for real-time situational awareness.</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pSp>
        <p:nvGrpSpPr>
          <p:cNvPr id="9" name="Group 8">
            <a:extLst>
              <a:ext uri="{FF2B5EF4-FFF2-40B4-BE49-F238E27FC236}">
                <a16:creationId xmlns:a16="http://schemas.microsoft.com/office/drawing/2014/main" id="{9244516E-1D76-F636-5E36-D0972710C155}"/>
              </a:ext>
            </a:extLst>
          </p:cNvPr>
          <p:cNvGrpSpPr/>
          <p:nvPr/>
        </p:nvGrpSpPr>
        <p:grpSpPr>
          <a:xfrm>
            <a:off x="153761" y="0"/>
            <a:ext cx="11884478" cy="1182704"/>
            <a:chOff x="153761" y="0"/>
            <a:chExt cx="11884478" cy="1182704"/>
          </a:xfrm>
        </p:grpSpPr>
        <p:pic>
          <p:nvPicPr>
            <p:cNvPr id="10" name="Picture 6" descr="SIMATS ENGINEERING —Profile">
              <a:extLst>
                <a:ext uri="{FF2B5EF4-FFF2-40B4-BE49-F238E27FC236}">
                  <a16:creationId xmlns:a16="http://schemas.microsoft.com/office/drawing/2014/main" id="{84DFDFA7-9544-3FC0-1A8D-781709514D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SIMATS ENGINEERING —Profile">
              <a:extLst>
                <a:ext uri="{FF2B5EF4-FFF2-40B4-BE49-F238E27FC236}">
                  <a16:creationId xmlns:a16="http://schemas.microsoft.com/office/drawing/2014/main" id="{1A2D81A2-B727-180C-831E-5E26650047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a:extLst>
              <a:ext uri="{FF2B5EF4-FFF2-40B4-BE49-F238E27FC236}">
                <a16:creationId xmlns:a16="http://schemas.microsoft.com/office/drawing/2014/main" id="{B1C7B9B1-2CA1-70C7-2744-B36C57E50ABA}"/>
              </a:ext>
            </a:extLst>
          </p:cNvPr>
          <p:cNvSpPr txBox="1"/>
          <p:nvPr/>
        </p:nvSpPr>
        <p:spPr>
          <a:xfrm>
            <a:off x="153761" y="4288172"/>
            <a:ext cx="6094926" cy="2315827"/>
          </a:xfrm>
          <a:prstGeom prst="rect">
            <a:avLst/>
          </a:prstGeom>
          <a:noFill/>
        </p:spPr>
        <p:txBody>
          <a:bodyPr wrap="square">
            <a:spAutoFit/>
          </a:bodyPr>
          <a:lstStyle/>
          <a:p>
            <a:pPr>
              <a:lnSpc>
                <a:spcPct val="150000"/>
              </a:lnSpc>
              <a:buNone/>
            </a:pPr>
            <a:r>
              <a:rPr lang="en-US" sz="1400" b="1" dirty="0">
                <a:latin typeface="Times New Roman" panose="02020603050405020304" pitchFamily="18" charset="0"/>
                <a:cs typeface="Times New Roman" panose="02020603050405020304" pitchFamily="18" charset="0"/>
              </a:rPr>
              <a:t>Key Features:</a:t>
            </a:r>
            <a:endParaRPr lang="en-US"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Real-time multi-source data integration.</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AI-based disaster prediction and risk assessment.</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Computer Vision for incident detection.</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Digital Twin city risk visualization.</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Automated early warning generation.</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Continuous monitoring of disaster-prone areas.</a:t>
            </a:r>
          </a:p>
        </p:txBody>
      </p:sp>
      <p:pic>
        <p:nvPicPr>
          <p:cNvPr id="8" name="Picture 7">
            <a:extLst>
              <a:ext uri="{FF2B5EF4-FFF2-40B4-BE49-F238E27FC236}">
                <a16:creationId xmlns:a16="http://schemas.microsoft.com/office/drawing/2014/main" id="{410FACCE-DB01-2E55-FF95-EC328216AE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7072" y="1674267"/>
            <a:ext cx="6125853" cy="3569908"/>
          </a:xfrm>
          <a:prstGeom prst="rect">
            <a:avLst/>
          </a:prstGeom>
        </p:spPr>
      </p:pic>
    </p:spTree>
    <p:extLst>
      <p:ext uri="{BB962C8B-B14F-4D97-AF65-F5344CB8AC3E}">
        <p14:creationId xmlns:p14="http://schemas.microsoft.com/office/powerpoint/2010/main" val="324642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33A2062-DC6F-4C70-6D4E-C18E13441E18}"/>
              </a:ext>
            </a:extLst>
          </p:cNvPr>
          <p:cNvSpPr txBox="1"/>
          <p:nvPr/>
        </p:nvSpPr>
        <p:spPr>
          <a:xfrm>
            <a:off x="2592693" y="32015"/>
            <a:ext cx="8130682" cy="369332"/>
          </a:xfrm>
          <a:prstGeom prst="rect">
            <a:avLst/>
          </a:prstGeom>
          <a:noFill/>
        </p:spPr>
        <p:txBody>
          <a:bodyPr wrap="square">
            <a:spAutoFit/>
          </a:bodyPr>
          <a:lstStyle/>
          <a:p>
            <a:r>
              <a:rPr lang="en-US" sz="1800" b="1" u="sng" dirty="0">
                <a:latin typeface="Times New Roman" panose="02020603050405020304" pitchFamily="18" charset="0"/>
                <a:cs typeface="Times New Roman" panose="02020603050405020304" pitchFamily="18" charset="0"/>
              </a:rPr>
              <a:t>Module 2: Intelligent Resource Allocation &amp; Emergency Response</a:t>
            </a:r>
            <a:endParaRPr lang="en-IN" sz="1800" b="1" u="sng" dirty="0">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B3D42CBB-EF94-EB07-3CB5-F944B077251D}"/>
              </a:ext>
            </a:extLst>
          </p:cNvPr>
          <p:cNvGrpSpPr/>
          <p:nvPr/>
        </p:nvGrpSpPr>
        <p:grpSpPr>
          <a:xfrm>
            <a:off x="153761" y="0"/>
            <a:ext cx="11884478" cy="1182704"/>
            <a:chOff x="153761" y="0"/>
            <a:chExt cx="11884478" cy="1182704"/>
          </a:xfrm>
        </p:grpSpPr>
        <p:pic>
          <p:nvPicPr>
            <p:cNvPr id="3" name="Picture 6" descr="SIMATS ENGINEERING —Profile">
              <a:extLst>
                <a:ext uri="{FF2B5EF4-FFF2-40B4-BE49-F238E27FC236}">
                  <a16:creationId xmlns:a16="http://schemas.microsoft.com/office/drawing/2014/main" id="{D9BB7777-701B-4139-C325-06C0BA1670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SIMATS ENGINEERING —Profile">
              <a:extLst>
                <a:ext uri="{FF2B5EF4-FFF2-40B4-BE49-F238E27FC236}">
                  <a16:creationId xmlns:a16="http://schemas.microsoft.com/office/drawing/2014/main" id="{6CF68551-142B-4DA6-F0FF-F127C21C03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Rectangle 10">
            <a:extLst>
              <a:ext uri="{FF2B5EF4-FFF2-40B4-BE49-F238E27FC236}">
                <a16:creationId xmlns:a16="http://schemas.microsoft.com/office/drawing/2014/main" id="{C2580EE5-0B76-5DC9-B205-67D2A278D293}"/>
              </a:ext>
            </a:extLst>
          </p:cNvPr>
          <p:cNvSpPr/>
          <p:nvPr/>
        </p:nvSpPr>
        <p:spPr>
          <a:xfrm>
            <a:off x="153761" y="1265626"/>
            <a:ext cx="5942239" cy="53583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This module assigns emergency resources using intelligent search algorithms and multi-agent systems. Based on disaster severity, the system allocates police, ambulances, fire services, hospitals, and rescue teams to the most critical locations. </a:t>
            </a:r>
          </a:p>
          <a:p>
            <a:pPr>
              <a:lnSpc>
                <a:spcPct val="150000"/>
              </a:lnSpc>
            </a:pPr>
            <a:endParaRPr lang="en-IN" sz="1400" dirty="0">
              <a:solidFill>
                <a:schemeClr val="tx1"/>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The system calculates optimal evacuation routes while considering traffic conditions, blocked roads, and resource availability to minimize emergency response time. </a:t>
            </a:r>
          </a:p>
          <a:p>
            <a:pPr marL="285750" indent="-285750">
              <a:lnSpc>
                <a:spcPct val="150000"/>
              </a:lnSpc>
              <a:buFont typeface="Arial" panose="020B0604020202020204" pitchFamily="34" charset="0"/>
              <a:buChar char="•"/>
            </a:pPr>
            <a:endParaRPr lang="en-IN" sz="14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IN" sz="1400" b="1" dirty="0">
                <a:solidFill>
                  <a:schemeClr val="tx1"/>
                </a:solidFill>
                <a:latin typeface="Times New Roman" panose="02020603050405020304" pitchFamily="18" charset="0"/>
                <a:cs typeface="Times New Roman" panose="02020603050405020304" pitchFamily="18" charset="0"/>
              </a:rPr>
              <a:t>Key Features:</a:t>
            </a:r>
          </a:p>
          <a:p>
            <a:pPr marL="285750" indent="-285750">
              <a:lnSpc>
                <a:spcPct val="150000"/>
              </a:lnSpc>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AI-based emergency resource allocation. </a:t>
            </a:r>
          </a:p>
          <a:p>
            <a:pPr marL="285750" indent="-285750">
              <a:lnSpc>
                <a:spcPct val="150000"/>
              </a:lnSpc>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Intelligent evacuation route optimization. </a:t>
            </a:r>
          </a:p>
          <a:p>
            <a:pPr marL="285750" indent="-285750">
              <a:lnSpc>
                <a:spcPct val="150000"/>
              </a:lnSpc>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Multi-agent emergency coordination. </a:t>
            </a:r>
          </a:p>
          <a:p>
            <a:pPr marL="285750" indent="-285750">
              <a:lnSpc>
                <a:spcPct val="150000"/>
              </a:lnSpc>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Live officer and vehicle tracking. </a:t>
            </a:r>
          </a:p>
          <a:p>
            <a:pPr marL="285750" indent="-285750">
              <a:lnSpc>
                <a:spcPct val="150000"/>
              </a:lnSpc>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Hospital and shelter availability monitoring. </a:t>
            </a:r>
          </a:p>
          <a:p>
            <a:pPr marL="285750" indent="-285750">
              <a:lnSpc>
                <a:spcPct val="150000"/>
              </a:lnSpc>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Automatic incident prioritization.</a:t>
            </a:r>
          </a:p>
        </p:txBody>
      </p:sp>
      <p:pic>
        <p:nvPicPr>
          <p:cNvPr id="6" name="Picture 5">
            <a:extLst>
              <a:ext uri="{FF2B5EF4-FFF2-40B4-BE49-F238E27FC236}">
                <a16:creationId xmlns:a16="http://schemas.microsoft.com/office/drawing/2014/main" id="{0DDF220F-01FD-A11B-2723-7FD1A01D5CE0}"/>
              </a:ext>
            </a:extLst>
          </p:cNvPr>
          <p:cNvPicPr>
            <a:picLocks noChangeAspect="1"/>
          </p:cNvPicPr>
          <p:nvPr/>
        </p:nvPicPr>
        <p:blipFill>
          <a:blip r:embed="rId3"/>
          <a:stretch>
            <a:fillRect/>
          </a:stretch>
        </p:blipFill>
        <p:spPr>
          <a:xfrm>
            <a:off x="6182942" y="3290670"/>
            <a:ext cx="5855297" cy="3067741"/>
          </a:xfrm>
          <a:prstGeom prst="rect">
            <a:avLst/>
          </a:prstGeom>
        </p:spPr>
      </p:pic>
      <p:pic>
        <p:nvPicPr>
          <p:cNvPr id="9" name="Picture 8">
            <a:extLst>
              <a:ext uri="{FF2B5EF4-FFF2-40B4-BE49-F238E27FC236}">
                <a16:creationId xmlns:a16="http://schemas.microsoft.com/office/drawing/2014/main" id="{E6B2162A-6AB4-6B45-A144-DEEE888088FA}"/>
              </a:ext>
            </a:extLst>
          </p:cNvPr>
          <p:cNvPicPr>
            <a:picLocks noChangeAspect="1"/>
          </p:cNvPicPr>
          <p:nvPr/>
        </p:nvPicPr>
        <p:blipFill>
          <a:blip r:embed="rId4"/>
          <a:stretch>
            <a:fillRect/>
          </a:stretch>
        </p:blipFill>
        <p:spPr>
          <a:xfrm>
            <a:off x="6182942" y="1283014"/>
            <a:ext cx="5920119" cy="1333018"/>
          </a:xfrm>
          <a:prstGeom prst="rect">
            <a:avLst/>
          </a:prstGeom>
        </p:spPr>
      </p:pic>
    </p:spTree>
    <p:extLst>
      <p:ext uri="{BB962C8B-B14F-4D97-AF65-F5344CB8AC3E}">
        <p14:creationId xmlns:p14="http://schemas.microsoft.com/office/powerpoint/2010/main" val="1597882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DE0D178-20EE-B258-B974-50F1B0EE442C}"/>
              </a:ext>
            </a:extLst>
          </p:cNvPr>
          <p:cNvSpPr/>
          <p:nvPr/>
        </p:nvSpPr>
        <p:spPr>
          <a:xfrm>
            <a:off x="153762" y="1507671"/>
            <a:ext cx="5611198" cy="511628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Arial" panose="020B0604020202020204" pitchFamily="34" charset="0"/>
              <a:buChar char="•"/>
            </a:pP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E7D67AD-FFCC-0169-8480-FF5170EDB352}"/>
              </a:ext>
            </a:extLst>
          </p:cNvPr>
          <p:cNvSpPr txBox="1"/>
          <p:nvPr/>
        </p:nvSpPr>
        <p:spPr>
          <a:xfrm>
            <a:off x="2592693" y="32015"/>
            <a:ext cx="8130682" cy="369332"/>
          </a:xfrm>
          <a:prstGeom prst="rect">
            <a:avLst/>
          </a:prstGeom>
          <a:noFill/>
        </p:spPr>
        <p:txBody>
          <a:bodyPr wrap="square">
            <a:spAutoFit/>
          </a:bodyPr>
          <a:lstStyle/>
          <a:p>
            <a:r>
              <a:rPr lang="en-US" sz="1800" b="1" u="sng" dirty="0">
                <a:latin typeface="Times New Roman" panose="02020603050405020304" pitchFamily="18" charset="0"/>
                <a:cs typeface="Times New Roman" panose="02020603050405020304" pitchFamily="18" charset="0"/>
              </a:rPr>
              <a:t>Module 3: Citizen Reporting &amp; Centralized Decision Support</a:t>
            </a:r>
            <a:endParaRPr lang="en-IN" sz="1800" b="1" u="sng"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8F72D9B-7060-D400-A806-C24EDFB8EB06}"/>
              </a:ext>
            </a:extLst>
          </p:cNvPr>
          <p:cNvSpPr txBox="1"/>
          <p:nvPr/>
        </p:nvSpPr>
        <p:spPr>
          <a:xfrm>
            <a:off x="358719" y="839770"/>
            <a:ext cx="5145772" cy="5870646"/>
          </a:xfrm>
          <a:prstGeom prst="rect">
            <a:avLst/>
          </a:prstGeom>
          <a:noFill/>
        </p:spPr>
        <p:txBody>
          <a:bodyPr wrap="square">
            <a:spAutoFit/>
          </a:bodyPr>
          <a:lstStyle/>
          <a:p>
            <a:pPr marL="285750" indent="-285750">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This module enables citizens to report emergencies through a secure token-based reporting system without revealing personal identity. Reports are verified by nearby officers and monitored through a centralized emergency command dashboard.</a:t>
            </a:r>
          </a:p>
          <a:p>
            <a:pPr>
              <a:lnSpc>
                <a:spcPct val="150000"/>
              </a:lnSpc>
            </a:pPr>
            <a:endParaRPr lang="en-US"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platform supports escalation mechanisms, live notifications, performance analytics, and real-time coordination among officers and government authorities for efficient disaster management.</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Key Features:</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Token-based anonymous citizen reporting.</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Officer verification and escalation workflow.</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Centralized emergency command dashboard.</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Live alerts and notification system.</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Incident analytics and performance monitoring.</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Real-time coordination between citizens and authorities.</a:t>
            </a:r>
            <a:endParaRPr lang="en-IN" sz="1400" dirty="0">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823A0C98-044E-9F8A-D3B2-09D4C1CEF4A3}"/>
              </a:ext>
            </a:extLst>
          </p:cNvPr>
          <p:cNvGrpSpPr/>
          <p:nvPr/>
        </p:nvGrpSpPr>
        <p:grpSpPr>
          <a:xfrm>
            <a:off x="153761" y="0"/>
            <a:ext cx="11884478" cy="1182704"/>
            <a:chOff x="153761" y="0"/>
            <a:chExt cx="11884478" cy="1182704"/>
          </a:xfrm>
        </p:grpSpPr>
        <p:pic>
          <p:nvPicPr>
            <p:cNvPr id="3" name="Picture 6" descr="SIMATS ENGINEERING —Profile">
              <a:extLst>
                <a:ext uri="{FF2B5EF4-FFF2-40B4-BE49-F238E27FC236}">
                  <a16:creationId xmlns:a16="http://schemas.microsoft.com/office/drawing/2014/main" id="{BDAF8CC9-3BBC-5215-40CE-33A93489FF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SIMATS ENGINEERING —Profile">
              <a:extLst>
                <a:ext uri="{FF2B5EF4-FFF2-40B4-BE49-F238E27FC236}">
                  <a16:creationId xmlns:a16="http://schemas.microsoft.com/office/drawing/2014/main" id="{C0752E06-8B1B-09B3-17B9-19050C1AA2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pic>
        <p:nvPicPr>
          <p:cNvPr id="8" name="Picture 7">
            <a:extLst>
              <a:ext uri="{FF2B5EF4-FFF2-40B4-BE49-F238E27FC236}">
                <a16:creationId xmlns:a16="http://schemas.microsoft.com/office/drawing/2014/main" id="{51A25EA5-9257-2C6B-6015-6F074B5D36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1996" y="1285821"/>
            <a:ext cx="5231483" cy="2489272"/>
          </a:xfrm>
          <a:prstGeom prst="rect">
            <a:avLst/>
          </a:prstGeom>
        </p:spPr>
      </p:pic>
      <p:pic>
        <p:nvPicPr>
          <p:cNvPr id="9" name="Picture 8">
            <a:extLst>
              <a:ext uri="{FF2B5EF4-FFF2-40B4-BE49-F238E27FC236}">
                <a16:creationId xmlns:a16="http://schemas.microsoft.com/office/drawing/2014/main" id="{0F606D00-EB59-F3FB-1AA0-830E742C4E56}"/>
              </a:ext>
            </a:extLst>
          </p:cNvPr>
          <p:cNvPicPr>
            <a:picLocks noChangeAspect="1"/>
          </p:cNvPicPr>
          <p:nvPr/>
        </p:nvPicPr>
        <p:blipFill>
          <a:blip r:embed="rId4"/>
          <a:stretch>
            <a:fillRect/>
          </a:stretch>
        </p:blipFill>
        <p:spPr>
          <a:xfrm>
            <a:off x="6225731" y="4076644"/>
            <a:ext cx="5277748" cy="2547313"/>
          </a:xfrm>
          <a:prstGeom prst="rect">
            <a:avLst/>
          </a:prstGeom>
        </p:spPr>
      </p:pic>
    </p:spTree>
    <p:extLst>
      <p:ext uri="{BB962C8B-B14F-4D97-AF65-F5344CB8AC3E}">
        <p14:creationId xmlns:p14="http://schemas.microsoft.com/office/powerpoint/2010/main" val="40869948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7A83A8C-9F4A-7246-7802-0F004D63634A}"/>
              </a:ext>
            </a:extLst>
          </p:cNvPr>
          <p:cNvSpPr/>
          <p:nvPr/>
        </p:nvSpPr>
        <p:spPr>
          <a:xfrm>
            <a:off x="5927863" y="1200492"/>
            <a:ext cx="5955845" cy="87008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82F73767-21B1-DA50-69D1-C0A27AEF1F50}"/>
              </a:ext>
            </a:extLst>
          </p:cNvPr>
          <p:cNvSpPr/>
          <p:nvPr/>
        </p:nvSpPr>
        <p:spPr>
          <a:xfrm>
            <a:off x="130631" y="1272526"/>
            <a:ext cx="5640297" cy="27170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AI-powered disaster monitoring and prediction successfully integrated.</a:t>
            </a:r>
          </a:p>
          <a:p>
            <a:pPr marL="285750" indent="-285750">
              <a:lnSpc>
                <a:spcPct val="15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Real-time Digital Twin visualizes disaster-prone areas on a city map.</a:t>
            </a:r>
          </a:p>
          <a:p>
            <a:pPr marL="285750" indent="-285750">
              <a:lnSpc>
                <a:spcPct val="15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Emergency incidents prioritized based on severity and risk level.</a:t>
            </a:r>
          </a:p>
          <a:p>
            <a:pPr marL="285750" indent="-285750">
              <a:lnSpc>
                <a:spcPct val="15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AI optimizes evacuation routes and emergency resource allocation.</a:t>
            </a:r>
          </a:p>
          <a:p>
            <a:pPr marL="285750" indent="-285750">
              <a:lnSpc>
                <a:spcPct val="15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Citizen reports and officer responses tracked through a centralized dashboard.</a:t>
            </a:r>
          </a:p>
          <a:p>
            <a:pPr marL="285750" indent="-285750">
              <a:lnSpc>
                <a:spcPct val="15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Faster emergency coordination and improved decision support.</a:t>
            </a:r>
            <a:endParaRPr lang="en-US" sz="1400" u="sng"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0AF7C820-7C75-29B6-D449-4AEE5E345A1B}"/>
              </a:ext>
            </a:extLst>
          </p:cNvPr>
          <p:cNvSpPr>
            <a:spLocks noGrp="1"/>
          </p:cNvSpPr>
          <p:nvPr>
            <p:ph type="title"/>
          </p:nvPr>
        </p:nvSpPr>
        <p:spPr>
          <a:xfrm>
            <a:off x="936171" y="0"/>
            <a:ext cx="10515600" cy="696232"/>
          </a:xfrm>
        </p:spPr>
        <p:txBody>
          <a:bodyPr>
            <a:normAutofit/>
          </a:bodyPr>
          <a:lstStyle/>
          <a:p>
            <a:pPr algn="ctr"/>
            <a:r>
              <a:rPr lang="en-IN" sz="3600" b="1" dirty="0">
                <a:latin typeface="Times New Roman" panose="02020603050405020304" pitchFamily="18" charset="0"/>
                <a:cs typeface="Times New Roman" panose="02020603050405020304" pitchFamily="18" charset="0"/>
              </a:rPr>
              <a:t>Results &amp; Discussion</a:t>
            </a:r>
          </a:p>
        </p:txBody>
      </p:sp>
      <p:sp>
        <p:nvSpPr>
          <p:cNvPr id="21" name="TextBox 20">
            <a:extLst>
              <a:ext uri="{FF2B5EF4-FFF2-40B4-BE49-F238E27FC236}">
                <a16:creationId xmlns:a16="http://schemas.microsoft.com/office/drawing/2014/main" id="{11B4F04D-7C7B-E89B-8449-2E4D87565307}"/>
              </a:ext>
            </a:extLst>
          </p:cNvPr>
          <p:cNvSpPr txBox="1"/>
          <p:nvPr/>
        </p:nvSpPr>
        <p:spPr>
          <a:xfrm>
            <a:off x="1281436" y="815239"/>
            <a:ext cx="6814456" cy="369332"/>
          </a:xfrm>
          <a:prstGeom prst="rect">
            <a:avLst/>
          </a:prstGeom>
          <a:noFill/>
        </p:spPr>
        <p:txBody>
          <a:bodyPr wrap="square">
            <a:spAutoFit/>
          </a:bodyPr>
          <a:lstStyle/>
          <a:p>
            <a:r>
              <a:rPr lang="en-IN" b="1" u="sng" dirty="0">
                <a:latin typeface="Times New Roman" panose="02020603050405020304" pitchFamily="18" charset="0"/>
                <a:cs typeface="Times New Roman" panose="02020603050405020304" pitchFamily="18" charset="0"/>
              </a:rPr>
              <a:t>Outcomes of the Project</a:t>
            </a:r>
          </a:p>
        </p:txBody>
      </p:sp>
      <p:sp>
        <p:nvSpPr>
          <p:cNvPr id="36" name="TextBox 35">
            <a:extLst>
              <a:ext uri="{FF2B5EF4-FFF2-40B4-BE49-F238E27FC236}">
                <a16:creationId xmlns:a16="http://schemas.microsoft.com/office/drawing/2014/main" id="{5027F22C-1A55-CFF6-13DB-A2A5F769D004}"/>
              </a:ext>
            </a:extLst>
          </p:cNvPr>
          <p:cNvSpPr txBox="1"/>
          <p:nvPr/>
        </p:nvSpPr>
        <p:spPr>
          <a:xfrm>
            <a:off x="5979570" y="1313989"/>
            <a:ext cx="5904138" cy="738664"/>
          </a:xfrm>
          <a:prstGeom prst="rect">
            <a:avLst/>
          </a:prstGeom>
          <a:noFill/>
        </p:spPr>
        <p:txBody>
          <a:bodyPr wrap="square">
            <a:spAutoFit/>
          </a:bodyPr>
          <a:lstStyle/>
          <a:p>
            <a:r>
              <a:rPr lang="en-US" sz="1400" b="1" u="sng" dirty="0">
                <a:latin typeface="Times New Roman" panose="02020603050405020304" pitchFamily="18" charset="0"/>
                <a:cs typeface="Times New Roman" panose="02020603050405020304" pitchFamily="18" charset="0"/>
              </a:rPr>
              <a:t>Key Advantage: </a:t>
            </a:r>
            <a:r>
              <a:rPr lang="en-US" sz="1400" dirty="0">
                <a:latin typeface="Times New Roman" panose="02020603050405020304" pitchFamily="18" charset="0"/>
                <a:cs typeface="Times New Roman" panose="02020603050405020304" pitchFamily="18" charset="0"/>
              </a:rPr>
              <a:t>Provides real-time AI-based disaster prediction, intelligent resource allocation, and centralized emergency management through an Urban Digital Twin platform..</a:t>
            </a:r>
            <a:endParaRPr lang="en-IN" sz="1400" dirty="0">
              <a:latin typeface="Times New Roman" panose="02020603050405020304" pitchFamily="18" charset="0"/>
              <a:cs typeface="Times New Roman" panose="02020603050405020304" pitchFamily="18" charset="0"/>
            </a:endParaRPr>
          </a:p>
        </p:txBody>
      </p:sp>
      <p:sp>
        <p:nvSpPr>
          <p:cNvPr id="10" name="AutoShape 2">
            <a:extLst>
              <a:ext uri="{FF2B5EF4-FFF2-40B4-BE49-F238E27FC236}">
                <a16:creationId xmlns:a16="http://schemas.microsoft.com/office/drawing/2014/main" id="{E5560C5B-574B-1B6B-93C2-296C99D4B39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 name="AutoShape 4" descr="Image of ">
            <a:extLst>
              <a:ext uri="{FF2B5EF4-FFF2-40B4-BE49-F238E27FC236}">
                <a16:creationId xmlns:a16="http://schemas.microsoft.com/office/drawing/2014/main" id="{99C37F18-92AB-C84E-1BCA-87A12027648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9" name="Group 8">
            <a:extLst>
              <a:ext uri="{FF2B5EF4-FFF2-40B4-BE49-F238E27FC236}">
                <a16:creationId xmlns:a16="http://schemas.microsoft.com/office/drawing/2014/main" id="{B5B18D88-8C95-03A0-61E0-CC2F534ACF4C}"/>
              </a:ext>
            </a:extLst>
          </p:cNvPr>
          <p:cNvGrpSpPr/>
          <p:nvPr/>
        </p:nvGrpSpPr>
        <p:grpSpPr>
          <a:xfrm>
            <a:off x="153761" y="0"/>
            <a:ext cx="11884478" cy="1182704"/>
            <a:chOff x="153761" y="0"/>
            <a:chExt cx="11884478" cy="1182704"/>
          </a:xfrm>
        </p:grpSpPr>
        <p:pic>
          <p:nvPicPr>
            <p:cNvPr id="11" name="Picture 6" descr="SIMATS ENGINEERING —Profile">
              <a:extLst>
                <a:ext uri="{FF2B5EF4-FFF2-40B4-BE49-F238E27FC236}">
                  <a16:creationId xmlns:a16="http://schemas.microsoft.com/office/drawing/2014/main" id="{9437B146-7BAD-D264-FA7C-E33A38DDDF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SIMATS ENGINEERING —Profile">
              <a:extLst>
                <a:ext uri="{FF2B5EF4-FFF2-40B4-BE49-F238E27FC236}">
                  <a16:creationId xmlns:a16="http://schemas.microsoft.com/office/drawing/2014/main" id="{57EEF697-10DD-D890-E492-FDC90DB5F2B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TextBox 4">
            <a:extLst>
              <a:ext uri="{FF2B5EF4-FFF2-40B4-BE49-F238E27FC236}">
                <a16:creationId xmlns:a16="http://schemas.microsoft.com/office/drawing/2014/main" id="{BE7B9746-4B00-7291-9414-652F91C74990}"/>
              </a:ext>
            </a:extLst>
          </p:cNvPr>
          <p:cNvSpPr txBox="1"/>
          <p:nvPr/>
        </p:nvSpPr>
        <p:spPr>
          <a:xfrm>
            <a:off x="3048473" y="3177600"/>
            <a:ext cx="6096946" cy="369332"/>
          </a:xfrm>
          <a:prstGeom prst="rect">
            <a:avLst/>
          </a:prstGeom>
          <a:noFill/>
        </p:spPr>
        <p:txBody>
          <a:bodyPr wrap="square">
            <a:spAutoFit/>
          </a:bodyPr>
          <a:lstStyle/>
          <a:p>
            <a:endParaRPr lang="en-IN"/>
          </a:p>
        </p:txBody>
      </p:sp>
      <p:sp>
        <p:nvSpPr>
          <p:cNvPr id="4" name="TextBox 3">
            <a:extLst>
              <a:ext uri="{FF2B5EF4-FFF2-40B4-BE49-F238E27FC236}">
                <a16:creationId xmlns:a16="http://schemas.microsoft.com/office/drawing/2014/main" id="{90F14BBB-EE82-4D37-EE0E-473D89E0DF19}"/>
              </a:ext>
            </a:extLst>
          </p:cNvPr>
          <p:cNvSpPr txBox="1"/>
          <p:nvPr/>
        </p:nvSpPr>
        <p:spPr>
          <a:xfrm>
            <a:off x="3048456" y="3171784"/>
            <a:ext cx="6096912" cy="369332"/>
          </a:xfrm>
          <a:prstGeom prst="rect">
            <a:avLst/>
          </a:prstGeom>
          <a:noFill/>
        </p:spPr>
        <p:txBody>
          <a:bodyPr wrap="square">
            <a:spAutoFit/>
          </a:bodyPr>
          <a:lstStyle/>
          <a:p>
            <a:endParaRPr lang="en-IN" dirty="0"/>
          </a:p>
        </p:txBody>
      </p:sp>
      <p:pic>
        <p:nvPicPr>
          <p:cNvPr id="19" name="Picture 18">
            <a:extLst>
              <a:ext uri="{FF2B5EF4-FFF2-40B4-BE49-F238E27FC236}">
                <a16:creationId xmlns:a16="http://schemas.microsoft.com/office/drawing/2014/main" id="{7E13B9DD-DA1E-791E-B1AB-275FB79434EB}"/>
              </a:ext>
            </a:extLst>
          </p:cNvPr>
          <p:cNvPicPr>
            <a:picLocks noChangeAspect="1"/>
          </p:cNvPicPr>
          <p:nvPr/>
        </p:nvPicPr>
        <p:blipFill>
          <a:blip r:embed="rId3"/>
          <a:stretch>
            <a:fillRect/>
          </a:stretch>
        </p:blipFill>
        <p:spPr>
          <a:xfrm>
            <a:off x="5943600" y="2199280"/>
            <a:ext cx="5416760" cy="2096528"/>
          </a:xfrm>
          <a:prstGeom prst="rect">
            <a:avLst/>
          </a:prstGeom>
        </p:spPr>
      </p:pic>
      <p:pic>
        <p:nvPicPr>
          <p:cNvPr id="22" name="Picture 21">
            <a:extLst>
              <a:ext uri="{FF2B5EF4-FFF2-40B4-BE49-F238E27FC236}">
                <a16:creationId xmlns:a16="http://schemas.microsoft.com/office/drawing/2014/main" id="{010CC6C5-E0F0-CC89-9CEA-991DCDB0FA19}"/>
              </a:ext>
            </a:extLst>
          </p:cNvPr>
          <p:cNvPicPr>
            <a:picLocks noChangeAspect="1"/>
          </p:cNvPicPr>
          <p:nvPr/>
        </p:nvPicPr>
        <p:blipFill>
          <a:blip r:embed="rId4"/>
          <a:stretch>
            <a:fillRect/>
          </a:stretch>
        </p:blipFill>
        <p:spPr>
          <a:xfrm>
            <a:off x="5979570" y="4394808"/>
            <a:ext cx="5380790" cy="2370532"/>
          </a:xfrm>
          <a:prstGeom prst="rect">
            <a:avLst/>
          </a:prstGeom>
        </p:spPr>
      </p:pic>
      <p:pic>
        <p:nvPicPr>
          <p:cNvPr id="6" name="Picture 5">
            <a:extLst>
              <a:ext uri="{FF2B5EF4-FFF2-40B4-BE49-F238E27FC236}">
                <a16:creationId xmlns:a16="http://schemas.microsoft.com/office/drawing/2014/main" id="{ED3B4C96-3857-FB87-FA2C-FD27F3F10E9E}"/>
              </a:ext>
            </a:extLst>
          </p:cNvPr>
          <p:cNvPicPr>
            <a:picLocks noChangeAspect="1"/>
          </p:cNvPicPr>
          <p:nvPr/>
        </p:nvPicPr>
        <p:blipFill>
          <a:blip r:embed="rId5"/>
          <a:stretch>
            <a:fillRect/>
          </a:stretch>
        </p:blipFill>
        <p:spPr>
          <a:xfrm>
            <a:off x="87087" y="4077569"/>
            <a:ext cx="5640297" cy="2687771"/>
          </a:xfrm>
          <a:prstGeom prst="rect">
            <a:avLst/>
          </a:prstGeom>
        </p:spPr>
      </p:pic>
    </p:spTree>
    <p:extLst>
      <p:ext uri="{BB962C8B-B14F-4D97-AF65-F5344CB8AC3E}">
        <p14:creationId xmlns:p14="http://schemas.microsoft.com/office/powerpoint/2010/main" val="1029823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B733B3-4E94-C803-77DF-FD288747D5A0}"/>
              </a:ext>
            </a:extLst>
          </p:cNvPr>
          <p:cNvSpPr/>
          <p:nvPr/>
        </p:nvSpPr>
        <p:spPr>
          <a:xfrm>
            <a:off x="255814" y="1446412"/>
            <a:ext cx="5731329" cy="244926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CA6A1A1-9B8F-0A6E-B9C8-4B9259BB1611}"/>
              </a:ext>
            </a:extLst>
          </p:cNvPr>
          <p:cNvSpPr>
            <a:spLocks noGrp="1"/>
          </p:cNvSpPr>
          <p:nvPr>
            <p:ph type="title"/>
          </p:nvPr>
        </p:nvSpPr>
        <p:spPr>
          <a:xfrm>
            <a:off x="936171" y="-53295"/>
            <a:ext cx="10172700" cy="734332"/>
          </a:xfrm>
        </p:spPr>
        <p:txBody>
          <a:bodyPr>
            <a:normAutofit/>
          </a:bodyPr>
          <a:lstStyle/>
          <a:p>
            <a:pPr algn="ctr"/>
            <a:r>
              <a:rPr lang="en-US" sz="3600" b="1" dirty="0">
                <a:latin typeface="Times New Roman" panose="02020603050405020304" pitchFamily="18" charset="0"/>
                <a:cs typeface="Times New Roman" panose="02020603050405020304" pitchFamily="18" charset="0"/>
              </a:rPr>
              <a:t>Challenges and Limitations</a:t>
            </a:r>
            <a:endParaRPr lang="en-IN" sz="3600" b="1"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D2912C48-2D9A-EDD3-A363-30A9F7C72E69}"/>
              </a:ext>
            </a:extLst>
          </p:cNvPr>
          <p:cNvGrpSpPr/>
          <p:nvPr/>
        </p:nvGrpSpPr>
        <p:grpSpPr>
          <a:xfrm>
            <a:off x="153761" y="0"/>
            <a:ext cx="11884478" cy="1182704"/>
            <a:chOff x="153761" y="0"/>
            <a:chExt cx="11884478" cy="1182704"/>
          </a:xfrm>
        </p:grpSpPr>
        <p:pic>
          <p:nvPicPr>
            <p:cNvPr id="5" name="Picture 6" descr="SIMATS ENGINEERING —Profile">
              <a:extLst>
                <a:ext uri="{FF2B5EF4-FFF2-40B4-BE49-F238E27FC236}">
                  <a16:creationId xmlns:a16="http://schemas.microsoft.com/office/drawing/2014/main" id="{B2138583-B3B7-F3A0-6AB7-CA18788FB8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ENGINEERING —Profile">
              <a:extLst>
                <a:ext uri="{FF2B5EF4-FFF2-40B4-BE49-F238E27FC236}">
                  <a16:creationId xmlns:a16="http://schemas.microsoft.com/office/drawing/2014/main" id="{D8D610D6-2DBD-B979-A2C8-97D8C726FA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a:extLst>
              <a:ext uri="{FF2B5EF4-FFF2-40B4-BE49-F238E27FC236}">
                <a16:creationId xmlns:a16="http://schemas.microsoft.com/office/drawing/2014/main" id="{44EC3AB1-FC90-663A-E448-9D9F82B6F11B}"/>
              </a:ext>
            </a:extLst>
          </p:cNvPr>
          <p:cNvSpPr txBox="1"/>
          <p:nvPr/>
        </p:nvSpPr>
        <p:spPr>
          <a:xfrm>
            <a:off x="302815" y="1446412"/>
            <a:ext cx="5684328" cy="2315827"/>
          </a:xfrm>
          <a:prstGeom prst="rect">
            <a:avLst/>
          </a:prstGeom>
          <a:noFill/>
        </p:spPr>
        <p:txBody>
          <a:bodyPr wrap="square">
            <a:spAutoFit/>
          </a:bodyPr>
          <a:lstStyle/>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Integrating real-time data from weather services, IoT sensors, CCTV, and citizen reports.</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Ensuring accurate disaster prediction under dynamic urban conditions.</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Optimizing emergency resource allocation and evacuation routes in real time.</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Coordinating multiple emergency agencies through a unified AI platform.</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Maintaining low-latency communication for critical emergency response.</a:t>
            </a:r>
          </a:p>
        </p:txBody>
      </p:sp>
      <p:sp>
        <p:nvSpPr>
          <p:cNvPr id="10" name="Rectangle 9">
            <a:extLst>
              <a:ext uri="{FF2B5EF4-FFF2-40B4-BE49-F238E27FC236}">
                <a16:creationId xmlns:a16="http://schemas.microsoft.com/office/drawing/2014/main" id="{4E4AB8C4-5AA6-AFA2-01FC-25877B43C3D7}"/>
              </a:ext>
            </a:extLst>
          </p:cNvPr>
          <p:cNvSpPr/>
          <p:nvPr/>
        </p:nvSpPr>
        <p:spPr>
          <a:xfrm>
            <a:off x="6094639" y="4444833"/>
            <a:ext cx="5943600" cy="21022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TextBox 11">
            <a:extLst>
              <a:ext uri="{FF2B5EF4-FFF2-40B4-BE49-F238E27FC236}">
                <a16:creationId xmlns:a16="http://schemas.microsoft.com/office/drawing/2014/main" id="{783A4CDC-0879-3B05-F490-5C6B139AD211}"/>
              </a:ext>
            </a:extLst>
          </p:cNvPr>
          <p:cNvSpPr txBox="1"/>
          <p:nvPr/>
        </p:nvSpPr>
        <p:spPr>
          <a:xfrm>
            <a:off x="6141092" y="4472776"/>
            <a:ext cx="5943600" cy="199856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Prediction accuracy depends on the availability and quality of real-time data.</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Sensor failures or network outages may affect system performance.</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AI predictions require verification before emergency actions are initiated.</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Large-scale deployment requires smart city infrastructure and government support.</a:t>
            </a:r>
          </a:p>
          <a:p>
            <a:pPr marL="285750" indent="-285750">
              <a:lnSpc>
                <a:spcPct val="150000"/>
              </a:lnSpc>
              <a:buFont typeface="Arial" panose="020B0604020202020204" pitchFamily="34" charset="0"/>
              <a:buChar char="•"/>
            </a:pPr>
            <a:r>
              <a:rPr lang="en-IN" sz="1400" dirty="0"/>
              <a:t>Privacy and security must be ensured </a:t>
            </a:r>
            <a:endParaRPr lang="en-US" sz="14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C70686C2-3918-2C6F-E9F2-C3A45F4C92A7}"/>
              </a:ext>
            </a:extLst>
          </p:cNvPr>
          <p:cNvSpPr txBox="1"/>
          <p:nvPr/>
        </p:nvSpPr>
        <p:spPr>
          <a:xfrm>
            <a:off x="3048000" y="3181741"/>
            <a:ext cx="6096000" cy="369332"/>
          </a:xfrm>
          <a:prstGeom prst="rect">
            <a:avLst/>
          </a:prstGeom>
          <a:noFill/>
        </p:spPr>
        <p:txBody>
          <a:bodyPr wrap="square">
            <a:spAutoFit/>
          </a:bodyPr>
          <a:lstStyle/>
          <a:p>
            <a:endParaRPr lang="en-IN" dirty="0"/>
          </a:p>
        </p:txBody>
      </p:sp>
      <p:sp>
        <p:nvSpPr>
          <p:cNvPr id="18" name="TextBox 17">
            <a:extLst>
              <a:ext uri="{FF2B5EF4-FFF2-40B4-BE49-F238E27FC236}">
                <a16:creationId xmlns:a16="http://schemas.microsoft.com/office/drawing/2014/main" id="{5BFBE659-823F-FADA-D1E2-BB34227D098A}"/>
              </a:ext>
            </a:extLst>
          </p:cNvPr>
          <p:cNvSpPr txBox="1"/>
          <p:nvPr/>
        </p:nvSpPr>
        <p:spPr>
          <a:xfrm>
            <a:off x="3048000" y="3181741"/>
            <a:ext cx="6096000" cy="369332"/>
          </a:xfrm>
          <a:prstGeom prst="rect">
            <a:avLst/>
          </a:prstGeom>
          <a:noFill/>
        </p:spPr>
        <p:txBody>
          <a:bodyPr wrap="square">
            <a:spAutoFit/>
          </a:bodyPr>
          <a:lstStyle/>
          <a:p>
            <a:endParaRPr lang="en-IN" dirty="0"/>
          </a:p>
        </p:txBody>
      </p:sp>
      <p:sp>
        <p:nvSpPr>
          <p:cNvPr id="22" name="TextBox 21">
            <a:extLst>
              <a:ext uri="{FF2B5EF4-FFF2-40B4-BE49-F238E27FC236}">
                <a16:creationId xmlns:a16="http://schemas.microsoft.com/office/drawing/2014/main" id="{AE3646C5-0A1E-F1CD-20D5-0E9A825F8920}"/>
              </a:ext>
            </a:extLst>
          </p:cNvPr>
          <p:cNvSpPr txBox="1"/>
          <p:nvPr/>
        </p:nvSpPr>
        <p:spPr>
          <a:xfrm>
            <a:off x="2898318" y="3133703"/>
            <a:ext cx="6096000" cy="369332"/>
          </a:xfrm>
          <a:prstGeom prst="rect">
            <a:avLst/>
          </a:prstGeom>
          <a:noFill/>
        </p:spPr>
        <p:txBody>
          <a:bodyPr wrap="square">
            <a:spAutoFit/>
          </a:bodyPr>
          <a:lstStyle/>
          <a:p>
            <a:endParaRPr lang="en-IN" dirty="0"/>
          </a:p>
        </p:txBody>
      </p:sp>
      <p:pic>
        <p:nvPicPr>
          <p:cNvPr id="7" name="Picture 6">
            <a:extLst>
              <a:ext uri="{FF2B5EF4-FFF2-40B4-BE49-F238E27FC236}">
                <a16:creationId xmlns:a16="http://schemas.microsoft.com/office/drawing/2014/main" id="{4B766256-4708-D270-72BF-92B6725914B0}"/>
              </a:ext>
            </a:extLst>
          </p:cNvPr>
          <p:cNvPicPr>
            <a:picLocks noChangeAspect="1"/>
          </p:cNvPicPr>
          <p:nvPr/>
        </p:nvPicPr>
        <p:blipFill>
          <a:blip r:embed="rId3"/>
          <a:stretch>
            <a:fillRect/>
          </a:stretch>
        </p:blipFill>
        <p:spPr>
          <a:xfrm>
            <a:off x="6204859" y="1274100"/>
            <a:ext cx="5475237" cy="2746114"/>
          </a:xfrm>
          <a:prstGeom prst="rect">
            <a:avLst/>
          </a:prstGeom>
        </p:spPr>
      </p:pic>
      <p:pic>
        <p:nvPicPr>
          <p:cNvPr id="11" name="Picture 10">
            <a:extLst>
              <a:ext uri="{FF2B5EF4-FFF2-40B4-BE49-F238E27FC236}">
                <a16:creationId xmlns:a16="http://schemas.microsoft.com/office/drawing/2014/main" id="{C756BC1C-9689-F78F-F7FE-938BDBA79059}"/>
              </a:ext>
            </a:extLst>
          </p:cNvPr>
          <p:cNvPicPr>
            <a:picLocks noChangeAspect="1"/>
          </p:cNvPicPr>
          <p:nvPr/>
        </p:nvPicPr>
        <p:blipFill>
          <a:blip r:embed="rId4"/>
          <a:stretch>
            <a:fillRect/>
          </a:stretch>
        </p:blipFill>
        <p:spPr>
          <a:xfrm>
            <a:off x="255814" y="4129219"/>
            <a:ext cx="5480957" cy="2564738"/>
          </a:xfrm>
          <a:prstGeom prst="rect">
            <a:avLst/>
          </a:prstGeom>
        </p:spPr>
      </p:pic>
    </p:spTree>
    <p:extLst>
      <p:ext uri="{BB962C8B-B14F-4D97-AF65-F5344CB8AC3E}">
        <p14:creationId xmlns:p14="http://schemas.microsoft.com/office/powerpoint/2010/main" val="1213665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D735280-700E-BD8F-6DE1-CDD01ACB33A7}"/>
              </a:ext>
            </a:extLst>
          </p:cNvPr>
          <p:cNvSpPr/>
          <p:nvPr/>
        </p:nvSpPr>
        <p:spPr>
          <a:xfrm>
            <a:off x="284068" y="2973103"/>
            <a:ext cx="6364960" cy="34761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0EC86F5-BF79-E19A-7498-EA7856D2AE30}"/>
              </a:ext>
            </a:extLst>
          </p:cNvPr>
          <p:cNvSpPr/>
          <p:nvPr/>
        </p:nvSpPr>
        <p:spPr>
          <a:xfrm>
            <a:off x="284068" y="1241986"/>
            <a:ext cx="11530464" cy="1367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0CFFE4E1-6930-E312-0C98-113E2246E69B}"/>
              </a:ext>
            </a:extLst>
          </p:cNvPr>
          <p:cNvGrpSpPr/>
          <p:nvPr/>
        </p:nvGrpSpPr>
        <p:grpSpPr>
          <a:xfrm>
            <a:off x="153761" y="0"/>
            <a:ext cx="11884478" cy="1182704"/>
            <a:chOff x="153761" y="0"/>
            <a:chExt cx="11884478" cy="1182704"/>
          </a:xfrm>
        </p:grpSpPr>
        <p:pic>
          <p:nvPicPr>
            <p:cNvPr id="5" name="Picture 6" descr="SIMATS ENGINEERING —Profile">
              <a:extLst>
                <a:ext uri="{FF2B5EF4-FFF2-40B4-BE49-F238E27FC236}">
                  <a16:creationId xmlns:a16="http://schemas.microsoft.com/office/drawing/2014/main" id="{0B4CF9A9-151F-852D-1E46-C553497D2B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ENGINEERING —Profile">
              <a:extLst>
                <a:ext uri="{FF2B5EF4-FFF2-40B4-BE49-F238E27FC236}">
                  <a16:creationId xmlns:a16="http://schemas.microsoft.com/office/drawing/2014/main" id="{55A0345D-D466-C10C-5B33-47E88DCC7F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a:extLst>
              <a:ext uri="{FF2B5EF4-FFF2-40B4-BE49-F238E27FC236}">
                <a16:creationId xmlns:a16="http://schemas.microsoft.com/office/drawing/2014/main" id="{2DDF6763-33A1-9F43-07E5-3F06BCB958B0}"/>
              </a:ext>
            </a:extLst>
          </p:cNvPr>
          <p:cNvSpPr txBox="1"/>
          <p:nvPr/>
        </p:nvSpPr>
        <p:spPr>
          <a:xfrm>
            <a:off x="471845" y="1363776"/>
            <a:ext cx="11112573" cy="1023165"/>
          </a:xfrm>
          <a:prstGeom prst="rect">
            <a:avLst/>
          </a:prstGeom>
          <a:noFill/>
        </p:spPr>
        <p:txBody>
          <a:bodyPr wrap="square">
            <a:spAutoFit/>
          </a:bodyPr>
          <a:lstStyle/>
          <a:p>
            <a:pPr>
              <a:lnSpc>
                <a:spcPct val="150000"/>
              </a:lnSpc>
            </a:pPr>
            <a:r>
              <a:rPr lang="en-US" sz="1400" dirty="0">
                <a:latin typeface="Times New Roman" panose="02020603050405020304" pitchFamily="18" charset="0"/>
                <a:cs typeface="Times New Roman" panose="02020603050405020304" pitchFamily="18" charset="0"/>
              </a:rPr>
              <a:t>The proposed system can be extended into a large-scale smart city platform by integrating advanced AI models, autonomous emergency systems, and government infrastructure. Future enhancements can improve disaster prediction accuracy, automate emergency response, and strengthen coordination among public safety </a:t>
            </a:r>
            <a:r>
              <a:rPr lang="en-US" sz="1400" dirty="0" err="1">
                <a:latin typeface="Times New Roman" panose="02020603050405020304" pitchFamily="18" charset="0"/>
                <a:cs typeface="Times New Roman" panose="02020603050405020304" pitchFamily="18" charset="0"/>
              </a:rPr>
              <a:t>agencies.Future</a:t>
            </a:r>
            <a:r>
              <a:rPr lang="en-US" sz="1400" dirty="0">
                <a:latin typeface="Times New Roman" panose="02020603050405020304" pitchFamily="18" charset="0"/>
                <a:cs typeface="Times New Roman" panose="02020603050405020304" pitchFamily="18" charset="0"/>
              </a:rPr>
              <a:t> Enhance</a:t>
            </a:r>
          </a:p>
        </p:txBody>
      </p:sp>
      <p:sp>
        <p:nvSpPr>
          <p:cNvPr id="3" name="Title 1">
            <a:extLst>
              <a:ext uri="{FF2B5EF4-FFF2-40B4-BE49-F238E27FC236}">
                <a16:creationId xmlns:a16="http://schemas.microsoft.com/office/drawing/2014/main" id="{9805F703-B377-2290-8F34-B586D3668337}"/>
              </a:ext>
            </a:extLst>
          </p:cNvPr>
          <p:cNvSpPr txBox="1">
            <a:spLocks/>
          </p:cNvSpPr>
          <p:nvPr/>
        </p:nvSpPr>
        <p:spPr>
          <a:xfrm>
            <a:off x="936171" y="-53295"/>
            <a:ext cx="10172700" cy="7343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latin typeface="Times New Roman" panose="02020603050405020304" pitchFamily="18" charset="0"/>
                <a:cs typeface="Times New Roman" panose="02020603050405020304" pitchFamily="18" charset="0"/>
              </a:rPr>
              <a:t>Future Scope</a:t>
            </a:r>
          </a:p>
        </p:txBody>
      </p:sp>
      <p:sp>
        <p:nvSpPr>
          <p:cNvPr id="10" name="TextBox 9">
            <a:extLst>
              <a:ext uri="{FF2B5EF4-FFF2-40B4-BE49-F238E27FC236}">
                <a16:creationId xmlns:a16="http://schemas.microsoft.com/office/drawing/2014/main" id="{C8D0F525-BA02-2313-0804-1FAE25ADD3CA}"/>
              </a:ext>
            </a:extLst>
          </p:cNvPr>
          <p:cNvSpPr txBox="1"/>
          <p:nvPr/>
        </p:nvSpPr>
        <p:spPr>
          <a:xfrm>
            <a:off x="356788" y="3170925"/>
            <a:ext cx="6094990" cy="2962158"/>
          </a:xfrm>
          <a:prstGeom prst="rect">
            <a:avLst/>
          </a:prstGeom>
          <a:noFill/>
        </p:spPr>
        <p:txBody>
          <a:bodyPr wrap="square">
            <a:spAutoFit/>
          </a:bodyPr>
          <a:lstStyle/>
          <a:p>
            <a:pPr>
              <a:lnSpc>
                <a:spcPct val="150000"/>
              </a:lnSpc>
              <a:buNone/>
            </a:pPr>
            <a:r>
              <a:rPr lang="en-IN" sz="1400" b="1" u="sng" dirty="0">
                <a:latin typeface="Times New Roman" panose="02020603050405020304" pitchFamily="18" charset="0"/>
                <a:cs typeface="Times New Roman" panose="02020603050405020304" pitchFamily="18" charset="0"/>
              </a:rPr>
              <a:t>Future Enhancements:</a:t>
            </a:r>
          </a:p>
          <a:p>
            <a:pPr>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Integrate drone and satellite imagery for rapid disaster assessment. </a:t>
            </a:r>
          </a:p>
          <a:p>
            <a:pPr>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Deploy Edge AI for faster real-time prediction and low-latency response. </a:t>
            </a:r>
          </a:p>
          <a:p>
            <a:pPr>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Support autonomous emergency vehicles and smart traffic signal control. </a:t>
            </a:r>
          </a:p>
          <a:p>
            <a:pPr>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Enhance AI models using historical disaster and climate datasets. </a:t>
            </a:r>
          </a:p>
          <a:p>
            <a:pPr>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Expand the platform for nationwide smart city disaster management. </a:t>
            </a:r>
          </a:p>
          <a:p>
            <a:pPr>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Integrate multilingual AI chatbots and voice assistants for citizen support. </a:t>
            </a:r>
          </a:p>
          <a:p>
            <a:pPr>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Develop mobile applications with offline emergency reporting and alerts. </a:t>
            </a:r>
          </a:p>
          <a:p>
            <a:pPr>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Incorporate blockchain for secure emergency data sharing and incident records.</a:t>
            </a:r>
          </a:p>
        </p:txBody>
      </p:sp>
      <p:pic>
        <p:nvPicPr>
          <p:cNvPr id="16" name="Picture 15">
            <a:extLst>
              <a:ext uri="{FF2B5EF4-FFF2-40B4-BE49-F238E27FC236}">
                <a16:creationId xmlns:a16="http://schemas.microsoft.com/office/drawing/2014/main" id="{0CA1FF31-5014-A49C-93F7-8E53AF87E823}"/>
              </a:ext>
            </a:extLst>
          </p:cNvPr>
          <p:cNvPicPr>
            <a:picLocks noChangeAspect="1"/>
          </p:cNvPicPr>
          <p:nvPr/>
        </p:nvPicPr>
        <p:blipFill>
          <a:blip r:embed="rId3"/>
          <a:stretch>
            <a:fillRect/>
          </a:stretch>
        </p:blipFill>
        <p:spPr>
          <a:xfrm>
            <a:off x="6923602" y="3247582"/>
            <a:ext cx="5028418" cy="2808843"/>
          </a:xfrm>
          <a:prstGeom prst="rect">
            <a:avLst/>
          </a:prstGeom>
        </p:spPr>
      </p:pic>
    </p:spTree>
    <p:extLst>
      <p:ext uri="{BB962C8B-B14F-4D97-AF65-F5344CB8AC3E}">
        <p14:creationId xmlns:p14="http://schemas.microsoft.com/office/powerpoint/2010/main" val="27278835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87AD7-BA3B-11AA-4DE9-D3B8C295ED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2FB6C-2237-0E36-3F07-BBF3C5AB559E}"/>
              </a:ext>
            </a:extLst>
          </p:cNvPr>
          <p:cNvSpPr>
            <a:spLocks noGrp="1"/>
          </p:cNvSpPr>
          <p:nvPr>
            <p:ph type="title"/>
          </p:nvPr>
        </p:nvSpPr>
        <p:spPr>
          <a:xfrm>
            <a:off x="1668946" y="148091"/>
            <a:ext cx="9256879" cy="1034613"/>
          </a:xfrm>
        </p:spPr>
        <p:txBody>
          <a:bodyPr>
            <a:noAutofit/>
          </a:bodyPr>
          <a:lstStyle/>
          <a:p>
            <a:pPr algn="ctr"/>
            <a:r>
              <a:rPr lang="en-US" sz="3600" b="1" dirty="0">
                <a:latin typeface="Times New Roman" panose="02020603050405020304" pitchFamily="18" charset="0"/>
                <a:cs typeface="Times New Roman" panose="02020603050405020304" pitchFamily="18" charset="0"/>
              </a:rPr>
              <a:t>Project Alignment with  Sustainable Development Goals</a:t>
            </a:r>
            <a:endParaRPr lang="en-IN" sz="3600" b="1" dirty="0">
              <a:latin typeface="Times New Roman" panose="02020603050405020304" pitchFamily="18" charset="0"/>
              <a:cs typeface="Times New Roman" panose="02020603050405020304" pitchFamily="18" charset="0"/>
            </a:endParaRPr>
          </a:p>
        </p:txBody>
      </p:sp>
      <p:sp>
        <p:nvSpPr>
          <p:cNvPr id="9" name="Rectangle 4">
            <a:extLst>
              <a:ext uri="{FF2B5EF4-FFF2-40B4-BE49-F238E27FC236}">
                <a16:creationId xmlns:a16="http://schemas.microsoft.com/office/drawing/2014/main" id="{28D11968-8506-B88B-251F-B5BF720BD061}"/>
              </a:ext>
            </a:extLst>
          </p:cNvPr>
          <p:cNvSpPr>
            <a:spLocks noChangeArrowheads="1"/>
          </p:cNvSpPr>
          <p:nvPr/>
        </p:nvSpPr>
        <p:spPr bwMode="auto">
          <a:xfrm>
            <a:off x="908957" y="6264186"/>
            <a:ext cx="10776858" cy="1040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nSpc>
                <a:spcPct val="150000"/>
              </a:lnSpc>
              <a:buFont typeface="+mj-lt"/>
              <a:buAutoNum type="arabicPeriod"/>
            </a:pPr>
            <a:br>
              <a:rPr lang="en-IN" sz="900" dirty="0">
                <a:latin typeface="Times New Roman" panose="02020603050405020304" pitchFamily="18" charset="0"/>
                <a:cs typeface="Times New Roman" panose="02020603050405020304" pitchFamily="18" charset="0"/>
              </a:rPr>
            </a:br>
            <a:br>
              <a:rPr lang="en-IN" sz="900" dirty="0">
                <a:latin typeface="Times New Roman" panose="02020603050405020304" pitchFamily="18" charset="0"/>
                <a:cs typeface="Times New Roman" panose="02020603050405020304" pitchFamily="18" charset="0"/>
              </a:rPr>
            </a:br>
            <a:br>
              <a:rPr lang="en-IN" sz="900" dirty="0">
                <a:latin typeface="Times New Roman" panose="02020603050405020304" pitchFamily="18" charset="0"/>
                <a:cs typeface="Times New Roman" panose="02020603050405020304" pitchFamily="18" charset="0"/>
              </a:rPr>
            </a:br>
            <a:endParaRPr kumimoji="0" lang="en-US" altLang="en-US" sz="1600" b="0"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A7C85763-36CD-D4B1-8903-7373B9E35FC9}"/>
              </a:ext>
            </a:extLst>
          </p:cNvPr>
          <p:cNvSpPr/>
          <p:nvPr/>
        </p:nvSpPr>
        <p:spPr>
          <a:xfrm>
            <a:off x="238846" y="1339883"/>
            <a:ext cx="4322995" cy="518396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IN" sz="1400" b="1" dirty="0">
                <a:solidFill>
                  <a:schemeClr val="tx1"/>
                </a:solidFill>
                <a:latin typeface="Times New Roman" panose="02020603050405020304" pitchFamily="18" charset="0"/>
                <a:cs typeface="Times New Roman" panose="02020603050405020304" pitchFamily="18" charset="0"/>
              </a:rPr>
              <a:t>SDG 11 – Sustainable Cities and Communities </a:t>
            </a:r>
          </a:p>
          <a:p>
            <a:pPr>
              <a:lnSpc>
                <a:spcPct val="150000"/>
              </a:lnSpc>
            </a:pPr>
            <a:r>
              <a:rPr lang="en-IN" sz="1400" dirty="0">
                <a:solidFill>
                  <a:schemeClr val="tx1"/>
                </a:solidFill>
                <a:latin typeface="Times New Roman" panose="02020603050405020304" pitchFamily="18" charset="0"/>
                <a:cs typeface="Times New Roman" panose="02020603050405020304" pitchFamily="18" charset="0"/>
              </a:rPr>
              <a:t>Develops an AI-powered Digital Twin platform for disaster prediction, emergency response, and urban resilience, helping create safer and smarter cities.</a:t>
            </a:r>
          </a:p>
          <a:p>
            <a:pPr>
              <a:lnSpc>
                <a:spcPct val="150000"/>
              </a:lnSpc>
            </a:pPr>
            <a:endParaRPr lang="en-IN" sz="14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IN" sz="1400" b="1" dirty="0">
                <a:solidFill>
                  <a:schemeClr val="tx1"/>
                </a:solidFill>
                <a:latin typeface="Times New Roman" panose="02020603050405020304" pitchFamily="18" charset="0"/>
                <a:cs typeface="Times New Roman" panose="02020603050405020304" pitchFamily="18" charset="0"/>
              </a:rPr>
              <a:t>SDG 9 – Industry, Innovation and Infrastructure</a:t>
            </a:r>
          </a:p>
          <a:p>
            <a:pPr>
              <a:lnSpc>
                <a:spcPct val="150000"/>
              </a:lnSpc>
            </a:pPr>
            <a:r>
              <a:rPr lang="en-IN" sz="1400" dirty="0">
                <a:solidFill>
                  <a:schemeClr val="tx1"/>
                </a:solidFill>
                <a:latin typeface="Times New Roman" panose="02020603050405020304" pitchFamily="18" charset="0"/>
                <a:cs typeface="Times New Roman" panose="02020603050405020304" pitchFamily="18" charset="0"/>
              </a:rPr>
              <a:t>Leverages Artificial Intelligence, IoT, Computer Vision, and Digital Twin technologies to modernize emergency management infrastructure and improve disaster response systems.</a:t>
            </a:r>
          </a:p>
          <a:p>
            <a:pPr>
              <a:lnSpc>
                <a:spcPct val="150000"/>
              </a:lnSpc>
            </a:pPr>
            <a:endParaRPr lang="en-IN" sz="14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IN" sz="1400" b="1" dirty="0">
                <a:solidFill>
                  <a:schemeClr val="tx1"/>
                </a:solidFill>
                <a:latin typeface="Times New Roman" panose="02020603050405020304" pitchFamily="18" charset="0"/>
                <a:cs typeface="Times New Roman" panose="02020603050405020304" pitchFamily="18" charset="0"/>
              </a:rPr>
              <a:t>SDG 13 – Climate Action</a:t>
            </a:r>
          </a:p>
          <a:p>
            <a:pPr>
              <a:lnSpc>
                <a:spcPct val="150000"/>
              </a:lnSpc>
            </a:pPr>
            <a:r>
              <a:rPr lang="en-IN" sz="1400" dirty="0">
                <a:solidFill>
                  <a:schemeClr val="tx1"/>
                </a:solidFill>
                <a:latin typeface="Times New Roman" panose="02020603050405020304" pitchFamily="18" charset="0"/>
                <a:cs typeface="Times New Roman" panose="02020603050405020304" pitchFamily="18" charset="0"/>
              </a:rPr>
              <a:t>Supports early detection and prediction of climate-related disasters such as floods, storms, and wildfires, enabling proactive response and reducing disaster impact.</a:t>
            </a:r>
          </a:p>
          <a:p>
            <a:pPr>
              <a:lnSpc>
                <a:spcPct val="150000"/>
              </a:lnSpc>
            </a:pPr>
            <a:endParaRPr lang="en-IN" sz="1400" dirty="0">
              <a:solidFill>
                <a:schemeClr val="tx1"/>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1E2A5AF3-3E68-81F2-A834-BDA78B8CBB51}"/>
              </a:ext>
            </a:extLst>
          </p:cNvPr>
          <p:cNvGrpSpPr/>
          <p:nvPr/>
        </p:nvGrpSpPr>
        <p:grpSpPr>
          <a:xfrm>
            <a:off x="153761" y="0"/>
            <a:ext cx="11884478" cy="1182704"/>
            <a:chOff x="153761" y="0"/>
            <a:chExt cx="11884478" cy="1182704"/>
          </a:xfrm>
        </p:grpSpPr>
        <p:pic>
          <p:nvPicPr>
            <p:cNvPr id="7" name="Picture 6" descr="SIMATS ENGINEERING —Profile">
              <a:extLst>
                <a:ext uri="{FF2B5EF4-FFF2-40B4-BE49-F238E27FC236}">
                  <a16:creationId xmlns:a16="http://schemas.microsoft.com/office/drawing/2014/main" id="{B99F1223-B70C-3084-CE53-894D571DCE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IMATS ENGINEERING —Profile">
              <a:extLst>
                <a:ext uri="{FF2B5EF4-FFF2-40B4-BE49-F238E27FC236}">
                  <a16:creationId xmlns:a16="http://schemas.microsoft.com/office/drawing/2014/main" id="{AE00561B-31E2-22F1-0838-F36B3293BA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pic>
        <p:nvPicPr>
          <p:cNvPr id="1028" name="Picture 4">
            <a:extLst>
              <a:ext uri="{FF2B5EF4-FFF2-40B4-BE49-F238E27FC236}">
                <a16:creationId xmlns:a16="http://schemas.microsoft.com/office/drawing/2014/main" id="{6D844568-65A7-63C4-100E-84322D0F6A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8796" y="1367029"/>
            <a:ext cx="2564838" cy="25648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ustainability » About the SDG’s">
            <a:extLst>
              <a:ext uri="{FF2B5EF4-FFF2-40B4-BE49-F238E27FC236}">
                <a16:creationId xmlns:a16="http://schemas.microsoft.com/office/drawing/2014/main" id="{FA7900A2-E962-B20E-04A2-4DBB4AFC90BE}"/>
              </a:ext>
            </a:extLst>
          </p:cNvPr>
          <p:cNvPicPr>
            <a:picLocks noChangeAspect="1"/>
          </p:cNvPicPr>
          <p:nvPr/>
        </p:nvPicPr>
        <p:blipFill>
          <a:blip r:embed="rId4"/>
          <a:stretch>
            <a:fillRect/>
          </a:stretch>
        </p:blipFill>
        <p:spPr>
          <a:xfrm>
            <a:off x="4830839" y="1330795"/>
            <a:ext cx="2648856" cy="2648856"/>
          </a:xfrm>
          <a:prstGeom prst="rect">
            <a:avLst/>
          </a:prstGeom>
        </p:spPr>
      </p:pic>
      <p:pic>
        <p:nvPicPr>
          <p:cNvPr id="5" name="Picture 4" descr="Climate Action - Climate Change Sdg - Free Transparent PNG Download - PNGkey">
            <a:extLst>
              <a:ext uri="{FF2B5EF4-FFF2-40B4-BE49-F238E27FC236}">
                <a16:creationId xmlns:a16="http://schemas.microsoft.com/office/drawing/2014/main" id="{77014015-B04D-BD5F-45D2-07D7D8D60594}"/>
              </a:ext>
            </a:extLst>
          </p:cNvPr>
          <p:cNvPicPr>
            <a:picLocks noChangeAspect="1"/>
          </p:cNvPicPr>
          <p:nvPr/>
        </p:nvPicPr>
        <p:blipFill>
          <a:blip r:embed="rId5"/>
          <a:srcRect l="2083" t="5295" r="7297" b="3499"/>
          <a:stretch>
            <a:fillRect/>
          </a:stretch>
        </p:blipFill>
        <p:spPr>
          <a:xfrm>
            <a:off x="6832171" y="4027435"/>
            <a:ext cx="2423149" cy="2557803"/>
          </a:xfrm>
          <a:prstGeom prst="rect">
            <a:avLst/>
          </a:prstGeom>
        </p:spPr>
      </p:pic>
    </p:spTree>
    <p:extLst>
      <p:ext uri="{BB962C8B-B14F-4D97-AF65-F5344CB8AC3E}">
        <p14:creationId xmlns:p14="http://schemas.microsoft.com/office/powerpoint/2010/main" val="2589430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FF353-A832-6C4B-DA84-D7E06780ADB2}"/>
              </a:ext>
            </a:extLst>
          </p:cNvPr>
          <p:cNvSpPr>
            <a:spLocks noGrp="1"/>
          </p:cNvSpPr>
          <p:nvPr>
            <p:ph type="title"/>
          </p:nvPr>
        </p:nvSpPr>
        <p:spPr>
          <a:xfrm>
            <a:off x="685800" y="0"/>
            <a:ext cx="10515600" cy="696232"/>
          </a:xfrm>
        </p:spPr>
        <p:txBody>
          <a:bodyPr>
            <a:normAutofit/>
          </a:bodyPr>
          <a:lstStyle/>
          <a:p>
            <a:pPr algn="ctr"/>
            <a:r>
              <a:rPr lang="en-IN" sz="3600" b="1" dirty="0">
                <a:latin typeface="Times New Roman" panose="02020603050405020304" pitchFamily="18" charset="0"/>
                <a:cs typeface="Times New Roman" panose="02020603050405020304" pitchFamily="18" charset="0"/>
              </a:rPr>
              <a:t>Conclusion</a:t>
            </a:r>
          </a:p>
        </p:txBody>
      </p:sp>
      <p:sp>
        <p:nvSpPr>
          <p:cNvPr id="4" name="Content Placeholder 3">
            <a:extLst>
              <a:ext uri="{FF2B5EF4-FFF2-40B4-BE49-F238E27FC236}">
                <a16:creationId xmlns:a16="http://schemas.microsoft.com/office/drawing/2014/main" id="{2893E3D1-BCB3-40E8-3F53-67A960CC97FC}"/>
              </a:ext>
            </a:extLst>
          </p:cNvPr>
          <p:cNvSpPr>
            <a:spLocks noGrp="1"/>
          </p:cNvSpPr>
          <p:nvPr>
            <p:ph idx="1"/>
          </p:nvPr>
        </p:nvSpPr>
        <p:spPr>
          <a:xfrm>
            <a:off x="413951" y="1352437"/>
            <a:ext cx="11415007" cy="22996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indent="0" algn="just">
              <a:lnSpc>
                <a:spcPct val="170000"/>
              </a:lnSpc>
              <a:buNone/>
            </a:pPr>
            <a:r>
              <a:rPr lang="en-US" sz="1400" dirty="0">
                <a:solidFill>
                  <a:schemeClr val="tx1"/>
                </a:solidFill>
                <a:latin typeface="Times New Roman" panose="02020603050405020304" pitchFamily="18" charset="0"/>
                <a:cs typeface="Times New Roman" panose="02020603050405020304" pitchFamily="18" charset="0"/>
              </a:rPr>
              <a:t>The </a:t>
            </a:r>
            <a:r>
              <a:rPr lang="en-US" sz="1400" dirty="0" err="1">
                <a:solidFill>
                  <a:schemeClr val="tx1"/>
                </a:solidFill>
                <a:latin typeface="Times New Roman" panose="02020603050405020304" pitchFamily="18" charset="0"/>
                <a:cs typeface="Times New Roman" panose="02020603050405020304" pitchFamily="18" charset="0"/>
              </a:rPr>
              <a:t>SentinelAI</a:t>
            </a:r>
            <a:r>
              <a:rPr lang="en-US" sz="1400" dirty="0">
                <a:solidFill>
                  <a:schemeClr val="tx1"/>
                </a:solidFill>
                <a:latin typeface="Times New Roman" panose="02020603050405020304" pitchFamily="18" charset="0"/>
                <a:cs typeface="Times New Roman" panose="02020603050405020304" pitchFamily="18" charset="0"/>
              </a:rPr>
              <a:t>: Multi-Agent Urban Digital Twin for Predictive Disaster Intelligence and Autonomous Emergency Response provides an intelligent solution for real-time disaster prediction and emergency management. By integrating Artificial Intelligence, Digital Twin technology, Computer Vision, IoT, and intelligent search algorithms, the system enables early disaster detection, optimized resource allocation, and faster emergency response. It improves coordination among citizens, emergency responders, and government authorities, contributing to safer and more resilient smart cities.</a:t>
            </a:r>
          </a:p>
        </p:txBody>
      </p:sp>
      <p:sp>
        <p:nvSpPr>
          <p:cNvPr id="5" name="Rectangle: Rounded Corners 4">
            <a:extLst>
              <a:ext uri="{FF2B5EF4-FFF2-40B4-BE49-F238E27FC236}">
                <a16:creationId xmlns:a16="http://schemas.microsoft.com/office/drawing/2014/main" id="{9D9FD8F5-8083-6FED-E740-230CA2798BB4}"/>
              </a:ext>
            </a:extLst>
          </p:cNvPr>
          <p:cNvSpPr/>
          <p:nvPr/>
        </p:nvSpPr>
        <p:spPr>
          <a:xfrm>
            <a:off x="413951" y="3977073"/>
            <a:ext cx="11415007" cy="223062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Key Takeaways:</a:t>
            </a:r>
            <a:endParaRPr lang="en-US" sz="1400" dirty="0">
              <a:solidFill>
                <a:schemeClr val="tx1"/>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AI enables real-time disaster prediction and risk assessment.</a:t>
            </a:r>
          </a:p>
          <a:p>
            <a:pPr marL="285750" indent="-285750">
              <a:lnSpc>
                <a:spcPct val="15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Digital Twin technology provides live monitoring of urban environments.</a:t>
            </a:r>
          </a:p>
          <a:p>
            <a:pPr marL="285750" indent="-285750">
              <a:lnSpc>
                <a:spcPct val="15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Intelligent agents optimize emergency resource allocation and evacuation routes.</a:t>
            </a:r>
          </a:p>
          <a:p>
            <a:pPr marL="285750" indent="-285750">
              <a:lnSpc>
                <a:spcPct val="15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Centralized dashboards improve coordination between citizens and authorities.</a:t>
            </a:r>
          </a:p>
          <a:p>
            <a:pPr marL="285750" indent="-285750">
              <a:lnSpc>
                <a:spcPct val="15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Supports faster response, enhanced public safety, and future smart city initiatives.</a:t>
            </a:r>
          </a:p>
        </p:txBody>
      </p:sp>
      <p:grpSp>
        <p:nvGrpSpPr>
          <p:cNvPr id="10" name="Group 9">
            <a:extLst>
              <a:ext uri="{FF2B5EF4-FFF2-40B4-BE49-F238E27FC236}">
                <a16:creationId xmlns:a16="http://schemas.microsoft.com/office/drawing/2014/main" id="{804A2D4B-9DC4-5791-5DDC-AB2A59CF9213}"/>
              </a:ext>
            </a:extLst>
          </p:cNvPr>
          <p:cNvGrpSpPr/>
          <p:nvPr/>
        </p:nvGrpSpPr>
        <p:grpSpPr>
          <a:xfrm>
            <a:off x="153761" y="0"/>
            <a:ext cx="11884478" cy="1182704"/>
            <a:chOff x="153761" y="0"/>
            <a:chExt cx="11884478" cy="1182704"/>
          </a:xfrm>
        </p:grpSpPr>
        <p:pic>
          <p:nvPicPr>
            <p:cNvPr id="11" name="Picture 6" descr="SIMATS ENGINEERING —Profile">
              <a:extLst>
                <a:ext uri="{FF2B5EF4-FFF2-40B4-BE49-F238E27FC236}">
                  <a16:creationId xmlns:a16="http://schemas.microsoft.com/office/drawing/2014/main" id="{F8EAD33C-B9D4-571F-9342-398EBA4F241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SIMATS ENGINEERING —Profile">
              <a:extLst>
                <a:ext uri="{FF2B5EF4-FFF2-40B4-BE49-F238E27FC236}">
                  <a16:creationId xmlns:a16="http://schemas.microsoft.com/office/drawing/2014/main" id="{8625F82D-3F1E-CA38-3C5C-3C604A218B1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466043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FD3C-CA54-4BB0-A524-80D1785BE12B}"/>
              </a:ext>
            </a:extLst>
          </p:cNvPr>
          <p:cNvSpPr>
            <a:spLocks noGrp="1"/>
          </p:cNvSpPr>
          <p:nvPr>
            <p:ph type="title"/>
          </p:nvPr>
        </p:nvSpPr>
        <p:spPr>
          <a:xfrm>
            <a:off x="696685" y="148091"/>
            <a:ext cx="10515600" cy="538389"/>
          </a:xfrm>
        </p:spPr>
        <p:txBody>
          <a:bodyPr>
            <a:normAutofit fontScale="90000"/>
          </a:bodyPr>
          <a:lstStyle/>
          <a:p>
            <a:pPr algn="ctr"/>
            <a:r>
              <a:rPr lang="en-IN" sz="3600" b="1" dirty="0">
                <a:latin typeface="Times New Roman" panose="02020603050405020304" pitchFamily="18" charset="0"/>
                <a:cs typeface="Times New Roman" panose="02020603050405020304" pitchFamily="18" charset="0"/>
              </a:rPr>
              <a:t>References</a:t>
            </a:r>
          </a:p>
        </p:txBody>
      </p:sp>
      <p:sp>
        <p:nvSpPr>
          <p:cNvPr id="9" name="Rectangle 4">
            <a:extLst>
              <a:ext uri="{FF2B5EF4-FFF2-40B4-BE49-F238E27FC236}">
                <a16:creationId xmlns:a16="http://schemas.microsoft.com/office/drawing/2014/main" id="{140A7B8E-F46C-BAC8-AB3D-77052B823EC7}"/>
              </a:ext>
            </a:extLst>
          </p:cNvPr>
          <p:cNvSpPr>
            <a:spLocks noChangeArrowheads="1"/>
          </p:cNvSpPr>
          <p:nvPr/>
        </p:nvSpPr>
        <p:spPr bwMode="auto">
          <a:xfrm>
            <a:off x="908957" y="6264186"/>
            <a:ext cx="10776858" cy="1040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nSpc>
                <a:spcPct val="150000"/>
              </a:lnSpc>
              <a:buFont typeface="+mj-lt"/>
              <a:buAutoNum type="arabicPeriod"/>
            </a:pPr>
            <a:br>
              <a:rPr lang="en-IN" sz="900" dirty="0">
                <a:latin typeface="Times New Roman" panose="02020603050405020304" pitchFamily="18" charset="0"/>
                <a:cs typeface="Times New Roman" panose="02020603050405020304" pitchFamily="18" charset="0"/>
              </a:rPr>
            </a:br>
            <a:br>
              <a:rPr lang="en-IN" sz="900" dirty="0">
                <a:latin typeface="Times New Roman" panose="02020603050405020304" pitchFamily="18" charset="0"/>
                <a:cs typeface="Times New Roman" panose="02020603050405020304" pitchFamily="18" charset="0"/>
              </a:rPr>
            </a:br>
            <a:br>
              <a:rPr lang="en-IN" sz="900" dirty="0">
                <a:latin typeface="Times New Roman" panose="02020603050405020304" pitchFamily="18" charset="0"/>
                <a:cs typeface="Times New Roman" panose="02020603050405020304" pitchFamily="18" charset="0"/>
              </a:rPr>
            </a:br>
            <a:endParaRPr kumimoji="0" lang="en-US" altLang="en-US" sz="1600" b="0"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p:txBody>
      </p:sp>
      <p:grpSp>
        <p:nvGrpSpPr>
          <p:cNvPr id="3" name="Group 2">
            <a:extLst>
              <a:ext uri="{FF2B5EF4-FFF2-40B4-BE49-F238E27FC236}">
                <a16:creationId xmlns:a16="http://schemas.microsoft.com/office/drawing/2014/main" id="{5A4AFB89-C9B1-6340-AA3D-26E80A1D7B6F}"/>
              </a:ext>
            </a:extLst>
          </p:cNvPr>
          <p:cNvGrpSpPr/>
          <p:nvPr/>
        </p:nvGrpSpPr>
        <p:grpSpPr>
          <a:xfrm>
            <a:off x="153761" y="0"/>
            <a:ext cx="11884478" cy="1182704"/>
            <a:chOff x="153761" y="0"/>
            <a:chExt cx="11884478" cy="1182704"/>
          </a:xfrm>
        </p:grpSpPr>
        <p:pic>
          <p:nvPicPr>
            <p:cNvPr id="6" name="Picture 6" descr="SIMATS ENGINEERING —Profile">
              <a:extLst>
                <a:ext uri="{FF2B5EF4-FFF2-40B4-BE49-F238E27FC236}">
                  <a16:creationId xmlns:a16="http://schemas.microsoft.com/office/drawing/2014/main" id="{14F7D28A-CD93-435F-FC82-67AB921124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380"/>
            <a:stretch>
              <a:fillRect/>
            </a:stretch>
          </p:blipFill>
          <p:spPr bwMode="auto">
            <a:xfrm>
              <a:off x="153761" y="0"/>
              <a:ext cx="1127675" cy="11827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SIMATS ENGINEERING —Profile">
              <a:extLst>
                <a:ext uri="{FF2B5EF4-FFF2-40B4-BE49-F238E27FC236}">
                  <a16:creationId xmlns:a16="http://schemas.microsoft.com/office/drawing/2014/main" id="{E6070505-64F7-56EA-2E9F-874E914432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917" r="33880"/>
            <a:stretch>
              <a:fillRect/>
            </a:stretch>
          </p:blipFill>
          <p:spPr bwMode="auto">
            <a:xfrm>
              <a:off x="10389793" y="0"/>
              <a:ext cx="1648446" cy="1182704"/>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TextBox 4">
            <a:extLst>
              <a:ext uri="{FF2B5EF4-FFF2-40B4-BE49-F238E27FC236}">
                <a16:creationId xmlns:a16="http://schemas.microsoft.com/office/drawing/2014/main" id="{7FB61358-C7B2-7414-7955-E97ED6ABF476}"/>
              </a:ext>
            </a:extLst>
          </p:cNvPr>
          <p:cNvSpPr txBox="1"/>
          <p:nvPr/>
        </p:nvSpPr>
        <p:spPr>
          <a:xfrm>
            <a:off x="0" y="1347923"/>
            <a:ext cx="12192000" cy="5547481"/>
          </a:xfrm>
          <a:prstGeom prst="rect">
            <a:avLst/>
          </a:prstGeom>
          <a:noFill/>
        </p:spPr>
        <p:txBody>
          <a:bodyPr wrap="square">
            <a:spAutoFit/>
          </a:bodyPr>
          <a:lstStyle/>
          <a:p>
            <a:pPr>
              <a:lnSpc>
                <a:spcPct val="150000"/>
              </a:lnSpc>
            </a:pPr>
            <a:r>
              <a:rPr lang="en-IN" sz="1400" b="1" dirty="0">
                <a:latin typeface="Times New Roman" panose="02020603050405020304" pitchFamily="18" charset="0"/>
                <a:cs typeface="Times New Roman" panose="02020603050405020304" pitchFamily="18" charset="0"/>
              </a:rPr>
              <a:t>1.</a:t>
            </a:r>
            <a:r>
              <a:rPr lang="en-IN" sz="1400" dirty="0">
                <a:latin typeface="Times New Roman" panose="02020603050405020304" pitchFamily="18" charset="0"/>
                <a:cs typeface="Times New Roman" panose="02020603050405020304" pitchFamily="18" charset="0"/>
              </a:rPr>
              <a:t>He, B., Zhang, Y., &amp; Li, X. (2024). </a:t>
            </a:r>
            <a:r>
              <a:rPr lang="en-IN" sz="1400" i="1" dirty="0">
                <a:latin typeface="Times New Roman" panose="02020603050405020304" pitchFamily="18" charset="0"/>
                <a:cs typeface="Times New Roman" panose="02020603050405020304" pitchFamily="18" charset="0"/>
              </a:rPr>
              <a:t>Continuing from the Sendai Framework midterm: Opportunities for urban digital twins in disaster risk management</a:t>
            </a:r>
            <a:r>
              <a:rPr lang="en-IN" sz="1400" dirty="0">
                <a:latin typeface="Times New Roman" panose="02020603050405020304" pitchFamily="18" charset="0"/>
                <a:cs typeface="Times New Roman" panose="02020603050405020304" pitchFamily="18" charset="0"/>
              </a:rPr>
              <a:t>. </a:t>
            </a:r>
            <a:r>
              <a:rPr lang="en-IN" sz="1400" i="1" dirty="0">
                <a:latin typeface="Times New Roman" panose="02020603050405020304" pitchFamily="18" charset="0"/>
                <a:cs typeface="Times New Roman" panose="02020603050405020304" pitchFamily="18" charset="0"/>
              </a:rPr>
              <a:t>International Journal of Disaster Risk Reduction, 101</a:t>
            </a:r>
            <a:r>
              <a:rPr lang="en-IN" sz="1400" dirty="0">
                <a:latin typeface="Times New Roman" panose="02020603050405020304" pitchFamily="18" charset="0"/>
                <a:cs typeface="Times New Roman" panose="02020603050405020304" pitchFamily="18" charset="0"/>
              </a:rPr>
              <a:t>, 104437 </a:t>
            </a:r>
            <a:r>
              <a:rPr lang="en-IN" sz="1400" dirty="0">
                <a:latin typeface="Times New Roman" panose="02020603050405020304" pitchFamily="18" charset="0"/>
                <a:cs typeface="Times New Roman" panose="02020603050405020304" pitchFamily="18" charset="0"/>
                <a:hlinkClick r:id="rId3"/>
              </a:rPr>
              <a:t>https://doi.org/10.1016/j.ijdrr.2024.104437</a:t>
            </a:r>
            <a:r>
              <a:rPr lang="en-IN" sz="1400" dirty="0">
                <a:latin typeface="Times New Roman" panose="02020603050405020304" pitchFamily="18" charset="0"/>
                <a:cs typeface="Times New Roman" panose="02020603050405020304" pitchFamily="18" charset="0"/>
              </a:rPr>
              <a:t>.</a:t>
            </a:r>
          </a:p>
          <a:p>
            <a:pPr>
              <a:lnSpc>
                <a:spcPct val="150000"/>
              </a:lnSpc>
            </a:pPr>
            <a:r>
              <a:rPr lang="en-IN" sz="1400" b="1" dirty="0">
                <a:latin typeface="Times New Roman" panose="02020603050405020304" pitchFamily="18" charset="0"/>
                <a:cs typeface="Times New Roman" panose="02020603050405020304" pitchFamily="18" charset="0"/>
              </a:rPr>
              <a:t>2.</a:t>
            </a:r>
            <a:r>
              <a:rPr lang="en-IN" sz="1400" dirty="0">
                <a:latin typeface="Times New Roman" panose="02020603050405020304" pitchFamily="18" charset="0"/>
                <a:cs typeface="Times New Roman" panose="02020603050405020304" pitchFamily="18" charset="0"/>
              </a:rPr>
              <a:t>Wang, J., Zhang, H., &amp; Chen, Y. (2024). </a:t>
            </a:r>
            <a:r>
              <a:rPr lang="en-IN" sz="1400" i="1" dirty="0">
                <a:latin typeface="Times New Roman" panose="02020603050405020304" pitchFamily="18" charset="0"/>
                <a:cs typeface="Times New Roman" panose="02020603050405020304" pitchFamily="18" charset="0"/>
              </a:rPr>
              <a:t>Digital twin approach for enhancing urban resilience: A cycle between virtual space and the real world</a:t>
            </a:r>
            <a:r>
              <a:rPr lang="en-IN" sz="1400" dirty="0">
                <a:latin typeface="Times New Roman" panose="02020603050405020304" pitchFamily="18" charset="0"/>
                <a:cs typeface="Times New Roman" panose="02020603050405020304" pitchFamily="18" charset="0"/>
              </a:rPr>
              <a:t>. </a:t>
            </a:r>
            <a:r>
              <a:rPr lang="en-IN" sz="1400" i="1" dirty="0">
                <a:latin typeface="Times New Roman" panose="02020603050405020304" pitchFamily="18" charset="0"/>
                <a:cs typeface="Times New Roman" panose="02020603050405020304" pitchFamily="18" charset="0"/>
              </a:rPr>
              <a:t>Smart Cities, 7</a:t>
            </a:r>
            <a:r>
              <a:rPr lang="en-IN" sz="1400" dirty="0">
                <a:latin typeface="Times New Roman" panose="02020603050405020304" pitchFamily="18" charset="0"/>
                <a:cs typeface="Times New Roman" panose="02020603050405020304" pitchFamily="18" charset="0"/>
              </a:rPr>
              <a:t>(2), 482–503 </a:t>
            </a:r>
            <a:r>
              <a:rPr lang="en-IN" sz="1400" dirty="0">
                <a:latin typeface="Times New Roman" panose="02020603050405020304" pitchFamily="18" charset="0"/>
                <a:cs typeface="Times New Roman" panose="02020603050405020304" pitchFamily="18" charset="0"/>
                <a:hlinkClick r:id="rId4"/>
              </a:rPr>
              <a:t>https://www.sciencedirect.com/science/article/pii/S2772741624000231</a:t>
            </a:r>
            <a:r>
              <a:rPr lang="en-IN" sz="1400" dirty="0">
                <a:latin typeface="Times New Roman" panose="02020603050405020304" pitchFamily="18" charset="0"/>
                <a:cs typeface="Times New Roman" panose="02020603050405020304" pitchFamily="18" charset="0"/>
              </a:rPr>
              <a:t>.</a:t>
            </a:r>
          </a:p>
          <a:p>
            <a:pPr>
              <a:lnSpc>
                <a:spcPct val="150000"/>
              </a:lnSpc>
            </a:pPr>
            <a:r>
              <a:rPr lang="en-IN" sz="1400" b="1" dirty="0">
                <a:latin typeface="Times New Roman" panose="02020603050405020304" pitchFamily="18" charset="0"/>
                <a:cs typeface="Times New Roman" panose="02020603050405020304" pitchFamily="18" charset="0"/>
              </a:rPr>
              <a:t>3.</a:t>
            </a:r>
            <a:r>
              <a:rPr lang="en-IN" sz="1400" dirty="0">
                <a:latin typeface="Times New Roman" panose="02020603050405020304" pitchFamily="18" charset="0"/>
                <a:cs typeface="Times New Roman" panose="02020603050405020304" pitchFamily="18" charset="0"/>
              </a:rPr>
              <a:t>Zhang, Y., Li, H., &amp; Wang, S. (2023). </a:t>
            </a:r>
            <a:r>
              <a:rPr lang="en-IN" sz="1400" i="1" dirty="0">
                <a:latin typeface="Times New Roman" panose="02020603050405020304" pitchFamily="18" charset="0"/>
                <a:cs typeface="Times New Roman" panose="02020603050405020304" pitchFamily="18" charset="0"/>
              </a:rPr>
              <a:t>A review of digital twin applications in civil and infrastructure emergency management</a:t>
            </a:r>
            <a:r>
              <a:rPr lang="en-IN" sz="1400" dirty="0">
                <a:latin typeface="Times New Roman" panose="02020603050405020304" pitchFamily="18" charset="0"/>
                <a:cs typeface="Times New Roman" panose="02020603050405020304" pitchFamily="18" charset="0"/>
              </a:rPr>
              <a:t>. </a:t>
            </a:r>
            <a:r>
              <a:rPr lang="en-IN" sz="1400" i="1" dirty="0">
                <a:latin typeface="Times New Roman" panose="02020603050405020304" pitchFamily="18" charset="0"/>
                <a:cs typeface="Times New Roman" panose="02020603050405020304" pitchFamily="18" charset="0"/>
              </a:rPr>
              <a:t>Buildings, 13</a:t>
            </a:r>
            <a:r>
              <a:rPr lang="en-IN" sz="1400" dirty="0">
                <a:latin typeface="Times New Roman" panose="02020603050405020304" pitchFamily="18" charset="0"/>
                <a:cs typeface="Times New Roman" panose="02020603050405020304" pitchFamily="18" charset="0"/>
              </a:rPr>
              <a:t>(5), 1143.</a:t>
            </a:r>
            <a:r>
              <a:rPr lang="en-IN" sz="1400" dirty="0">
                <a:latin typeface="Times New Roman" panose="02020603050405020304" pitchFamily="18" charset="0"/>
                <a:cs typeface="Times New Roman" panose="02020603050405020304" pitchFamily="18" charset="0"/>
                <a:hlinkClick r:id="rId5"/>
              </a:rPr>
              <a:t>https://www.mdpi.com/2075-5309/13/5/1143</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b="1" dirty="0">
                <a:latin typeface="Times New Roman" panose="02020603050405020304" pitchFamily="18" charset="0"/>
                <a:cs typeface="Times New Roman" panose="02020603050405020304" pitchFamily="18" charset="0"/>
              </a:rPr>
              <a:t>4.</a:t>
            </a:r>
            <a:r>
              <a:rPr lang="en-IN" sz="1400" dirty="0">
                <a:latin typeface="Times New Roman" panose="02020603050405020304" pitchFamily="18" charset="0"/>
                <a:cs typeface="Times New Roman" panose="02020603050405020304" pitchFamily="18" charset="0"/>
              </a:rPr>
              <a:t>Ding, L., Zhang, Y., &amp; Huang, Z. (2023). </a:t>
            </a:r>
            <a:r>
              <a:rPr lang="en-IN" sz="1400" i="1" dirty="0">
                <a:latin typeface="Times New Roman" panose="02020603050405020304" pitchFamily="18" charset="0"/>
                <a:cs typeface="Times New Roman" panose="02020603050405020304" pitchFamily="18" charset="0"/>
              </a:rPr>
              <a:t>Intelligent emergency digital twin system for monitoring building fire evacuation</a:t>
            </a:r>
            <a:r>
              <a:rPr lang="en-IN" sz="1400" dirty="0">
                <a:latin typeface="Times New Roman" panose="02020603050405020304" pitchFamily="18" charset="0"/>
                <a:cs typeface="Times New Roman" panose="02020603050405020304" pitchFamily="18" charset="0"/>
              </a:rPr>
              <a:t>. </a:t>
            </a:r>
            <a:r>
              <a:rPr lang="en-IN" sz="1400" i="1" dirty="0">
                <a:latin typeface="Times New Roman" panose="02020603050405020304" pitchFamily="18" charset="0"/>
                <a:cs typeface="Times New Roman" panose="02020603050405020304" pitchFamily="18" charset="0"/>
              </a:rPr>
              <a:t>Automation in Construction, 154</a:t>
            </a:r>
            <a:r>
              <a:rPr lang="en-IN" sz="1400" dirty="0">
                <a:latin typeface="Times New Roman" panose="02020603050405020304" pitchFamily="18" charset="0"/>
                <a:cs typeface="Times New Roman" panose="02020603050405020304" pitchFamily="18" charset="0"/>
              </a:rPr>
              <a:t>, 105060.</a:t>
            </a:r>
          </a:p>
          <a:p>
            <a:pPr>
              <a:lnSpc>
                <a:spcPct val="150000"/>
              </a:lnSpc>
            </a:pPr>
            <a:r>
              <a:rPr lang="en-IN" sz="14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hlinkClick r:id="rId6"/>
              </a:rPr>
              <a:t>https://ira.lib.polyu.edu.hk/handle/10397/108029</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b="1" dirty="0">
                <a:latin typeface="Times New Roman" panose="02020603050405020304" pitchFamily="18" charset="0"/>
                <a:cs typeface="Times New Roman" panose="02020603050405020304" pitchFamily="18" charset="0"/>
              </a:rPr>
              <a:t>5.</a:t>
            </a:r>
            <a:r>
              <a:rPr lang="en-IN" sz="1400" dirty="0">
                <a:latin typeface="Times New Roman" panose="02020603050405020304" pitchFamily="18" charset="0"/>
                <a:cs typeface="Times New Roman" panose="02020603050405020304" pitchFamily="18" charset="0"/>
              </a:rPr>
              <a:t>Russell, S., &amp; Norvig, P. (2022). </a:t>
            </a:r>
            <a:r>
              <a:rPr lang="en-IN" sz="1400" i="1" dirty="0">
                <a:latin typeface="Times New Roman" panose="02020603050405020304" pitchFamily="18" charset="0"/>
                <a:cs typeface="Times New Roman" panose="02020603050405020304" pitchFamily="18" charset="0"/>
              </a:rPr>
              <a:t>Artificial Intelligence: A Modern Approach</a:t>
            </a:r>
            <a:r>
              <a:rPr lang="en-IN" sz="1400" dirty="0">
                <a:latin typeface="Times New Roman" panose="02020603050405020304" pitchFamily="18" charset="0"/>
                <a:cs typeface="Times New Roman" panose="02020603050405020304" pitchFamily="18" charset="0"/>
              </a:rPr>
              <a:t> (4th Global ed.). Pearson. </a:t>
            </a:r>
            <a:r>
              <a:rPr lang="en-IN" sz="1400" dirty="0">
                <a:latin typeface="Times New Roman" panose="02020603050405020304" pitchFamily="18" charset="0"/>
                <a:cs typeface="Times New Roman" panose="02020603050405020304" pitchFamily="18" charset="0"/>
                <a:hlinkClick r:id="rId7"/>
              </a:rPr>
              <a:t>https://aima.cs.berkeley.edu/</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b="1" dirty="0">
                <a:latin typeface="Times New Roman" panose="02020603050405020304" pitchFamily="18" charset="0"/>
                <a:cs typeface="Times New Roman" panose="02020603050405020304" pitchFamily="18" charset="0"/>
              </a:rPr>
              <a:t>6.</a:t>
            </a:r>
            <a:r>
              <a:rPr lang="en-IN" sz="1400" dirty="0">
                <a:latin typeface="Times New Roman" panose="02020603050405020304" pitchFamily="18" charset="0"/>
                <a:cs typeface="Times New Roman" panose="02020603050405020304" pitchFamily="18" charset="0"/>
              </a:rPr>
              <a:t>Alpaydın, E. (2020). </a:t>
            </a:r>
            <a:r>
              <a:rPr lang="en-IN" sz="1400" i="1" dirty="0">
                <a:latin typeface="Times New Roman" panose="02020603050405020304" pitchFamily="18" charset="0"/>
                <a:cs typeface="Times New Roman" panose="02020603050405020304" pitchFamily="18" charset="0"/>
              </a:rPr>
              <a:t>Introduction to Machine Learning</a:t>
            </a:r>
            <a:r>
              <a:rPr lang="en-IN" sz="1400" dirty="0">
                <a:latin typeface="Times New Roman" panose="02020603050405020304" pitchFamily="18" charset="0"/>
                <a:cs typeface="Times New Roman" panose="02020603050405020304" pitchFamily="18" charset="0"/>
              </a:rPr>
              <a:t> (4th ed.). MIT Press </a:t>
            </a:r>
            <a:r>
              <a:rPr lang="en-IN" sz="1400" dirty="0">
                <a:latin typeface="Times New Roman" panose="02020603050405020304" pitchFamily="18" charset="0"/>
                <a:cs typeface="Times New Roman" panose="02020603050405020304" pitchFamily="18" charset="0"/>
                <a:hlinkClick r:id="rId8"/>
              </a:rPr>
              <a:t>https://mitpress.mit.edu/9780262043793/introduction-to-machine-learning/</a:t>
            </a:r>
            <a:r>
              <a:rPr lang="en-IN" sz="1400" dirty="0">
                <a:latin typeface="Times New Roman" panose="02020603050405020304" pitchFamily="18" charset="0"/>
                <a:cs typeface="Times New Roman" panose="02020603050405020304" pitchFamily="18" charset="0"/>
              </a:rPr>
              <a:t>.</a:t>
            </a:r>
          </a:p>
          <a:p>
            <a:pPr>
              <a:lnSpc>
                <a:spcPct val="150000"/>
              </a:lnSpc>
            </a:pPr>
            <a:r>
              <a:rPr lang="en-IN" sz="1400" b="1" dirty="0">
                <a:latin typeface="Times New Roman" panose="02020603050405020304" pitchFamily="18" charset="0"/>
                <a:cs typeface="Times New Roman" panose="02020603050405020304" pitchFamily="18" charset="0"/>
              </a:rPr>
              <a:t>7.</a:t>
            </a:r>
            <a:r>
              <a:rPr lang="en-IN" sz="1400" dirty="0">
                <a:latin typeface="Times New Roman" panose="02020603050405020304" pitchFamily="18" charset="0"/>
                <a:cs typeface="Times New Roman" panose="02020603050405020304" pitchFamily="18" charset="0"/>
              </a:rPr>
              <a:t>Goodfellow, I., Bengio, Y., &amp; Courville, A. (2016). </a:t>
            </a:r>
            <a:r>
              <a:rPr lang="en-IN" sz="1400" i="1" dirty="0">
                <a:latin typeface="Times New Roman" panose="02020603050405020304" pitchFamily="18" charset="0"/>
                <a:cs typeface="Times New Roman" panose="02020603050405020304" pitchFamily="18" charset="0"/>
              </a:rPr>
              <a:t>Deep Learning </a:t>
            </a:r>
            <a:r>
              <a:rPr lang="en-IN" sz="1400" dirty="0">
                <a:latin typeface="Times New Roman" panose="02020603050405020304" pitchFamily="18" charset="0"/>
                <a:cs typeface="Times New Roman" panose="02020603050405020304" pitchFamily="18" charset="0"/>
              </a:rPr>
              <a:t>MIT </a:t>
            </a:r>
            <a:r>
              <a:rPr lang="en-IN" sz="1400" dirty="0" err="1">
                <a:latin typeface="Times New Roman" panose="02020603050405020304" pitchFamily="18" charset="0"/>
                <a:cs typeface="Times New Roman" panose="02020603050405020304" pitchFamily="18" charset="0"/>
              </a:rPr>
              <a:t>Press.</a:t>
            </a:r>
            <a:r>
              <a:rPr lang="en-IN" sz="1400" dirty="0" err="1">
                <a:latin typeface="Times New Roman" panose="02020603050405020304" pitchFamily="18" charset="0"/>
                <a:cs typeface="Times New Roman" panose="02020603050405020304" pitchFamily="18" charset="0"/>
                <a:hlinkClick r:id="rId9"/>
              </a:rPr>
              <a:t>https</a:t>
            </a:r>
            <a:r>
              <a:rPr lang="en-IN" sz="1400" dirty="0">
                <a:latin typeface="Times New Roman" panose="02020603050405020304" pitchFamily="18" charset="0"/>
                <a:cs typeface="Times New Roman" panose="02020603050405020304" pitchFamily="18" charset="0"/>
                <a:hlinkClick r:id="rId9"/>
              </a:rPr>
              <a:t>://www.deeplearningbook.org/</a:t>
            </a:r>
            <a:r>
              <a:rPr lang="en-IN" sz="1400" dirty="0">
                <a:latin typeface="Times New Roman" panose="02020603050405020304" pitchFamily="18" charset="0"/>
                <a:cs typeface="Times New Roman" panose="02020603050405020304" pitchFamily="18" charset="0"/>
              </a:rPr>
              <a:t>.</a:t>
            </a:r>
          </a:p>
          <a:p>
            <a:pPr>
              <a:lnSpc>
                <a:spcPct val="150000"/>
              </a:lnSpc>
            </a:pPr>
            <a:r>
              <a:rPr lang="en-IN" sz="1400" b="1" dirty="0">
                <a:latin typeface="Times New Roman" panose="02020603050405020304" pitchFamily="18" charset="0"/>
                <a:cs typeface="Times New Roman" panose="02020603050405020304" pitchFamily="18" charset="0"/>
              </a:rPr>
              <a:t>8.</a:t>
            </a:r>
            <a:r>
              <a:rPr lang="en-IN" sz="1400" dirty="0">
                <a:latin typeface="Times New Roman" panose="02020603050405020304" pitchFamily="18" charset="0"/>
                <a:cs typeface="Times New Roman" panose="02020603050405020304" pitchFamily="18" charset="0"/>
              </a:rPr>
              <a:t>Hart, P. E., Nilsson, N. J., &amp; Raphael, B. (1968). </a:t>
            </a:r>
            <a:r>
              <a:rPr lang="en-IN" sz="1400" i="1" dirty="0">
                <a:latin typeface="Times New Roman" panose="02020603050405020304" pitchFamily="18" charset="0"/>
                <a:cs typeface="Times New Roman" panose="02020603050405020304" pitchFamily="18" charset="0"/>
              </a:rPr>
              <a:t>A formal basis for the heuristic determination of minimum cost paths</a:t>
            </a:r>
            <a:r>
              <a:rPr lang="en-IN" sz="1400" dirty="0">
                <a:latin typeface="Times New Roman" panose="02020603050405020304" pitchFamily="18" charset="0"/>
                <a:cs typeface="Times New Roman" panose="02020603050405020304" pitchFamily="18" charset="0"/>
              </a:rPr>
              <a:t>. </a:t>
            </a:r>
            <a:r>
              <a:rPr lang="en-IN" sz="1400" i="1" dirty="0">
                <a:latin typeface="Times New Roman" panose="02020603050405020304" pitchFamily="18" charset="0"/>
                <a:cs typeface="Times New Roman" panose="02020603050405020304" pitchFamily="18" charset="0"/>
              </a:rPr>
              <a:t>IEEE Transactions on Systems Science and Cybernetics, 4</a:t>
            </a:r>
            <a:r>
              <a:rPr lang="en-IN" sz="1400" dirty="0">
                <a:latin typeface="Times New Roman" panose="02020603050405020304" pitchFamily="18" charset="0"/>
                <a:cs typeface="Times New Roman" panose="02020603050405020304" pitchFamily="18" charset="0"/>
              </a:rPr>
              <a:t>(2), 100–107 </a:t>
            </a:r>
            <a:r>
              <a:rPr lang="en-IN" sz="1400" dirty="0">
                <a:latin typeface="Times New Roman" panose="02020603050405020304" pitchFamily="18" charset="0"/>
                <a:cs typeface="Times New Roman" panose="02020603050405020304" pitchFamily="18" charset="0"/>
                <a:hlinkClick r:id="rId10"/>
              </a:rPr>
              <a:t>https://doi.org/10.1109/TSSC.1968.300136</a:t>
            </a:r>
            <a:r>
              <a:rPr lang="en-IN" sz="1400" dirty="0">
                <a:latin typeface="Times New Roman" panose="02020603050405020304" pitchFamily="18" charset="0"/>
                <a:cs typeface="Times New Roman" panose="02020603050405020304" pitchFamily="18" charset="0"/>
              </a:rPr>
              <a:t>.</a:t>
            </a:r>
          </a:p>
          <a:p>
            <a:pPr>
              <a:lnSpc>
                <a:spcPct val="150000"/>
              </a:lnSpc>
            </a:pPr>
            <a:r>
              <a:rPr lang="en-IN" sz="1400" b="1" dirty="0">
                <a:latin typeface="Times New Roman" panose="02020603050405020304" pitchFamily="18" charset="0"/>
                <a:cs typeface="Times New Roman" panose="02020603050405020304" pitchFamily="18" charset="0"/>
              </a:rPr>
              <a:t>9.</a:t>
            </a:r>
            <a:r>
              <a:rPr lang="en-IN" sz="1400" dirty="0">
                <a:latin typeface="Times New Roman" panose="02020603050405020304" pitchFamily="18" charset="0"/>
                <a:cs typeface="Times New Roman" panose="02020603050405020304" pitchFamily="18" charset="0"/>
              </a:rPr>
              <a:t>Dorigo, M., &amp; </a:t>
            </a:r>
            <a:r>
              <a:rPr lang="en-IN" sz="1400" dirty="0" err="1">
                <a:latin typeface="Times New Roman" panose="02020603050405020304" pitchFamily="18" charset="0"/>
                <a:cs typeface="Times New Roman" panose="02020603050405020304" pitchFamily="18" charset="0"/>
              </a:rPr>
              <a:t>Birattari</a:t>
            </a:r>
            <a:r>
              <a:rPr lang="en-IN" sz="1400" dirty="0">
                <a:latin typeface="Times New Roman" panose="02020603050405020304" pitchFamily="18" charset="0"/>
                <a:cs typeface="Times New Roman" panose="02020603050405020304" pitchFamily="18" charset="0"/>
              </a:rPr>
              <a:t>, M. (2010). </a:t>
            </a:r>
            <a:r>
              <a:rPr lang="en-IN" sz="1400" i="1" dirty="0">
                <a:latin typeface="Times New Roman" panose="02020603050405020304" pitchFamily="18" charset="0"/>
                <a:cs typeface="Times New Roman" panose="02020603050405020304" pitchFamily="18" charset="0"/>
              </a:rPr>
              <a:t>Ant colony optimization</a:t>
            </a:r>
            <a:r>
              <a:rPr lang="en-IN" sz="1400" dirty="0">
                <a:latin typeface="Times New Roman" panose="02020603050405020304" pitchFamily="18" charset="0"/>
                <a:cs typeface="Times New Roman" panose="02020603050405020304" pitchFamily="18" charset="0"/>
              </a:rPr>
              <a:t>. In </a:t>
            </a:r>
            <a:r>
              <a:rPr lang="en-IN" sz="1400" i="1" dirty="0" err="1">
                <a:latin typeface="Times New Roman" panose="02020603050405020304" pitchFamily="18" charset="0"/>
                <a:cs typeface="Times New Roman" panose="02020603050405020304" pitchFamily="18" charset="0"/>
              </a:rPr>
              <a:t>Encyclopedia</a:t>
            </a:r>
            <a:r>
              <a:rPr lang="en-IN" sz="1400" i="1" dirty="0">
                <a:latin typeface="Times New Roman" panose="02020603050405020304" pitchFamily="18" charset="0"/>
                <a:cs typeface="Times New Roman" panose="02020603050405020304" pitchFamily="18" charset="0"/>
              </a:rPr>
              <a:t> of Machine Learning</a:t>
            </a:r>
            <a:r>
              <a:rPr lang="en-IN" sz="1400" dirty="0">
                <a:latin typeface="Times New Roman" panose="02020603050405020304" pitchFamily="18" charset="0"/>
                <a:cs typeface="Times New Roman" panose="02020603050405020304" pitchFamily="18" charset="0"/>
              </a:rPr>
              <a:t> (pp. 36–39). Springer. https://doi.org/10.1007/978-0-387-30164-8_22.</a:t>
            </a:r>
          </a:p>
          <a:p>
            <a:pPr>
              <a:lnSpc>
                <a:spcPct val="150000"/>
              </a:lnSpc>
            </a:pPr>
            <a:r>
              <a:rPr lang="en-IN" sz="1400" b="1" dirty="0">
                <a:latin typeface="Times New Roman" panose="02020603050405020304" pitchFamily="18" charset="0"/>
                <a:cs typeface="Times New Roman" panose="02020603050405020304" pitchFamily="18" charset="0"/>
              </a:rPr>
              <a:t>10.</a:t>
            </a:r>
            <a:r>
              <a:rPr lang="en-IN" sz="1400" dirty="0">
                <a:latin typeface="Times New Roman" panose="02020603050405020304" pitchFamily="18" charset="0"/>
                <a:cs typeface="Times New Roman" panose="02020603050405020304" pitchFamily="18" charset="0"/>
              </a:rPr>
              <a:t>OpenStreetMap Foundation. (2026). </a:t>
            </a:r>
            <a:r>
              <a:rPr lang="en-IN" sz="1400" i="1" dirty="0">
                <a:latin typeface="Times New Roman" panose="02020603050405020304" pitchFamily="18" charset="0"/>
                <a:cs typeface="Times New Roman" panose="02020603050405020304" pitchFamily="18" charset="0"/>
              </a:rPr>
              <a:t>OpenStreetMap</a:t>
            </a:r>
            <a:r>
              <a:rPr lang="en-IN" sz="14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hlinkClick r:id="rId11"/>
              </a:rPr>
              <a:t>https://www.openstreetmap.org</a:t>
            </a:r>
            <a:endParaRPr lang="en-IN" sz="1400"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0042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F593338-C86F-0253-E738-5A9585B58E05}"/>
              </a:ext>
            </a:extLst>
          </p:cNvPr>
          <p:cNvPicPr>
            <a:picLocks noGrp="1" noChangeAspect="1"/>
          </p:cNvPicPr>
          <p:nvPr>
            <p:ph idx="1"/>
          </p:nvPr>
        </p:nvPicPr>
        <p:blipFill>
          <a:blip r:embed="rId2"/>
          <a:srcRect l="4278" t="25325" r="5856" b="29865"/>
          <a:stretch>
            <a:fillRect/>
          </a:stretch>
        </p:blipFill>
        <p:spPr>
          <a:xfrm>
            <a:off x="1909481" y="1113064"/>
            <a:ext cx="8677837" cy="4327071"/>
          </a:xfrm>
          <a:prstGeom prst="rect">
            <a:avLst/>
          </a:prstGeom>
        </p:spPr>
      </p:pic>
      <p:sp>
        <p:nvSpPr>
          <p:cNvPr id="4" name="AutoShape 2" descr="Image of ">
            <a:extLst>
              <a:ext uri="{FF2B5EF4-FFF2-40B4-BE49-F238E27FC236}">
                <a16:creationId xmlns:a16="http://schemas.microsoft.com/office/drawing/2014/main" id="{11D4402F-5FFC-101B-7037-D666302711B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628937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1502</TotalTime>
  <Words>2079</Words>
  <Application>Microsoft Office PowerPoint</Application>
  <PresentationFormat>Widescreen</PresentationFormat>
  <Paragraphs>214</Paragraphs>
  <Slides>16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Times New Roman</vt:lpstr>
      <vt:lpstr>Office Theme</vt:lpstr>
      <vt:lpstr>PowerPoint Presentation</vt:lpstr>
      <vt:lpstr>Introduction  </vt:lpstr>
      <vt:lpstr>Objectives  </vt:lpstr>
      <vt:lpstr>Literature Review / Background  </vt:lpstr>
      <vt:lpstr>PowerPoint Presentation</vt:lpstr>
      <vt:lpstr>Hardware Components Used</vt:lpstr>
      <vt:lpstr>Implementation</vt:lpstr>
      <vt:lpstr>PowerPoint Presentation</vt:lpstr>
      <vt:lpstr>PowerPoint Presentation</vt:lpstr>
      <vt:lpstr>Results &amp; Discussion</vt:lpstr>
      <vt:lpstr>Challenges and Limitations</vt:lpstr>
      <vt:lpstr>PowerPoint Presentation</vt:lpstr>
      <vt:lpstr>Project Alignment with  Sustainable Development Goals</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Santhosh Kumar B</dc:creator>
  <cp:lastModifiedBy>Santhosh Kumar B</cp:lastModifiedBy>
  <cp:revision>14</cp:revision>
  <dcterms:created xsi:type="dcterms:W3CDTF">2026-02-03T14:58:53Z</dcterms:created>
  <dcterms:modified xsi:type="dcterms:W3CDTF">2026-08-09T17:08:58Z</dcterms:modified>
</cp:coreProperties>
</file>